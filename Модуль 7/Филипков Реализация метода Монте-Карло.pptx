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498" autoAdjust="0"/>
    <p:restoredTop sz="94660"/>
  </p:normalViewPr>
  <p:slideViewPr>
    <p:cSldViewPr snapToGrid="0">
      <p:cViewPr varScale="1">
        <p:scale>
          <a:sx n="87" d="100"/>
          <a:sy n="87" d="100"/>
        </p:scale>
        <p:origin x="92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80980D-0B7C-1573-976F-11FDC5F46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9638C9B-6BC6-BE5F-1518-7B3B803B8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B22D14-5945-D06C-6953-D78502407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4E744-DAEA-404F-BCB5-6B7154FE7CA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FF285F-3A49-2F41-36FD-C6D827050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357F2C-4CB2-72D7-B953-2CA049A5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8F6A-9CDD-447E-A24F-E0F3F7C23A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4377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5A9590-8493-C899-0715-20237EB58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9D7F77-A415-4BD3-4FDE-C978611AB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828348-33B2-1A21-640E-01DED20BC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4E744-DAEA-404F-BCB5-6B7154FE7CA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25EE17-25D7-5A02-CF45-D033D5ECC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20749E-E7FD-1FCA-8C1B-112265BDE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8F6A-9CDD-447E-A24F-E0F3F7C23A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6469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11A590-17D9-B158-4102-0BEDD7DAC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1FD28C-F793-7896-C71A-9A4D40259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AFD235-CAF7-BA43-4F88-C7BF523ED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4E744-DAEA-404F-BCB5-6B7154FE7CA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47DBE6-55B2-8194-6AA4-8D3349843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2F3A24-1F39-024A-1B1A-EA1171C80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8F6A-9CDD-447E-A24F-E0F3F7C23A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6350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E1C784-00F1-2E8B-C706-4F9832DE3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1276CC-7FC2-7524-9221-CA7E48752B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E9A865-35D2-8240-2107-4B0C1E87D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DBC5C0-A6DE-420A-4398-8BF17C63F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4E744-DAEA-404F-BCB5-6B7154FE7CA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9932683-9953-515B-0731-B32EF4D38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167582-C546-3F2F-DA79-1B1BEA381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8F6A-9CDD-447E-A24F-E0F3F7C23A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6949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622BE0-6D5F-E333-C410-16F0FE6F9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6CB1198-8BB2-A210-80B6-F3199C2B6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05F718F-98CE-43A3-4228-DE28A686A4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61DD608-531F-51B0-4854-D5B86795E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3D51171-561C-8477-08AB-33DEA04C0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84C1ECB-785C-A225-CC03-B8316AA36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4E744-DAEA-404F-BCB5-6B7154FE7CA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4192C63-AA44-78FC-22D8-E84E90F3C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ED3AB99-A2E1-145A-DD00-7C18E9E0D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8F6A-9CDD-447E-A24F-E0F3F7C23A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925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A33643-6FFC-E74E-6433-4248408BA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DC79788-A422-8E60-4B69-024495C84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4E744-DAEA-404F-BCB5-6B7154FE7CA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79B5E98-7CF8-28A9-3D36-6C3C07A72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0FC7DE3-A653-B34C-095E-CBA4266AA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8F6A-9CDD-447E-A24F-E0F3F7C23A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1898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0675085-8D8C-3E45-DC3C-CF6D86C95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4E744-DAEA-404F-BCB5-6B7154FE7CA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6AFDA28-3419-4DFE-4128-53F5F77A0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9606269-9DF5-2371-C2C3-252110A7F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8F6A-9CDD-447E-A24F-E0F3F7C23A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8005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C3B7B7-3CC0-648B-95D8-4C1C72C9D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99B734-667F-B2A9-077E-ED95A9A2D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A5BDF73-C643-3534-0C99-DF622F2ABB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91F27E9-394A-4344-7FFA-4A38D8729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4E744-DAEA-404F-BCB5-6B7154FE7CA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F331E5F-311D-EC16-EDDE-1246A3099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98DE30-FC8C-7D20-16F4-B2E763C51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8F6A-9CDD-447E-A24F-E0F3F7C23A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7076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322B59-DE92-CA6D-587F-501643C48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E4953CD-1910-0720-CCAF-2439290317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6C9F2AD-8473-10C2-9A66-DBBF91C53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D53341E-E474-8FEE-99A6-2A7404136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4E744-DAEA-404F-BCB5-6B7154FE7CA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E6524A0-80C7-8728-413D-011DE0150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739FE04-A42E-4CEB-556F-F9B39A61B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8F6A-9CDD-447E-A24F-E0F3F7C23A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830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6093FB-88D5-A827-8627-CBAD826AF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62BB527-24D7-0B39-1DF6-926CB02178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6835C1-8706-1F87-8B9D-67EED9AEA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4E744-DAEA-404F-BCB5-6B7154FE7CA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9B1BE9-EDA7-0D39-5A26-886719C15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015A7C-A55E-7136-422F-1CE7FA62B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8F6A-9CDD-447E-A24F-E0F3F7C23A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4493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9D42436-B881-FB3F-3DA9-B16B66623C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AFC3665-6963-A1F7-8F47-40D44231CC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669E70-EEA2-10E0-CE6E-3285CD36F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4E744-DAEA-404F-BCB5-6B7154FE7CA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D424D5-9430-2380-510D-43F20FEFE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5B9CF2-8BEB-658F-1B4C-66201D60B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8F6A-9CDD-447E-A24F-E0F3F7C23A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717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439000-A530-3650-4A9E-1E640305C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E483C2-C50A-69B3-0CE8-77291C9C1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02FEFE-DDD0-0A7D-24EA-AAFA510BB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44E744-DAEA-404F-BCB5-6B7154FE7CA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C78C40-98E5-ABD0-93DB-1FB9031DB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6F9FEE-3ABF-406C-F747-B472B6A5F4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9D8F6A-9CDD-447E-A24F-E0F3F7C23A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5474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4.sv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8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svg"/><Relationship Id="rId7" Type="http://schemas.openxmlformats.org/officeDocument/2006/relationships/image" Target="../media/image17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4.sv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8.svg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svg"/><Relationship Id="rId7" Type="http://schemas.openxmlformats.org/officeDocument/2006/relationships/image" Target="../media/image1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4.svg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6.svg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0256" y="-117090"/>
            <a:ext cx="12386467" cy="7075769"/>
          </a:xfrm>
          <a:custGeom>
            <a:avLst/>
            <a:gdLst/>
            <a:ahLst/>
            <a:cxnLst/>
            <a:rect l="l" t="t" r="r" b="b"/>
            <a:pathLst>
              <a:path w="18579701" h="10613654">
                <a:moveTo>
                  <a:pt x="0" y="0"/>
                </a:moveTo>
                <a:lnTo>
                  <a:pt x="18579700" y="0"/>
                </a:lnTo>
                <a:lnTo>
                  <a:pt x="18579700" y="10613654"/>
                </a:lnTo>
                <a:lnTo>
                  <a:pt x="0" y="10613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0317755" y="-111773"/>
            <a:ext cx="1966524" cy="3755514"/>
          </a:xfrm>
          <a:custGeom>
            <a:avLst/>
            <a:gdLst/>
            <a:ahLst/>
            <a:cxnLst/>
            <a:rect l="l" t="t" r="r" b="b"/>
            <a:pathLst>
              <a:path w="2949786" h="5633271">
                <a:moveTo>
                  <a:pt x="2949786" y="5633271"/>
                </a:moveTo>
                <a:lnTo>
                  <a:pt x="0" y="5633271"/>
                </a:lnTo>
                <a:lnTo>
                  <a:pt x="0" y="0"/>
                </a:lnTo>
                <a:lnTo>
                  <a:pt x="2949786" y="0"/>
                </a:lnTo>
                <a:lnTo>
                  <a:pt x="2949786" y="563327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-448589" y="1681915"/>
            <a:ext cx="1726279" cy="438193"/>
          </a:xfrm>
          <a:custGeom>
            <a:avLst/>
            <a:gdLst/>
            <a:ahLst/>
            <a:cxnLst/>
            <a:rect l="l" t="t" r="r" b="b"/>
            <a:pathLst>
              <a:path w="2589419" h="657290">
                <a:moveTo>
                  <a:pt x="0" y="0"/>
                </a:moveTo>
                <a:lnTo>
                  <a:pt x="2589419" y="0"/>
                </a:lnTo>
                <a:lnTo>
                  <a:pt x="2589419" y="657290"/>
                </a:lnTo>
                <a:lnTo>
                  <a:pt x="0" y="6572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90256" y="3146883"/>
            <a:ext cx="1995995" cy="3811796"/>
          </a:xfrm>
          <a:custGeom>
            <a:avLst/>
            <a:gdLst/>
            <a:ahLst/>
            <a:cxnLst/>
            <a:rect l="l" t="t" r="r" b="b"/>
            <a:pathLst>
              <a:path w="2993993" h="5717694">
                <a:moveTo>
                  <a:pt x="0" y="0"/>
                </a:moveTo>
                <a:lnTo>
                  <a:pt x="2993992" y="0"/>
                </a:lnTo>
                <a:lnTo>
                  <a:pt x="2993992" y="5717694"/>
                </a:lnTo>
                <a:lnTo>
                  <a:pt x="0" y="5717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65835" y="3834575"/>
            <a:ext cx="1320015" cy="607207"/>
          </a:xfrm>
          <a:custGeom>
            <a:avLst/>
            <a:gdLst/>
            <a:ahLst/>
            <a:cxnLst/>
            <a:rect l="l" t="t" r="r" b="b"/>
            <a:pathLst>
              <a:path w="1980023" h="910811">
                <a:moveTo>
                  <a:pt x="0" y="0"/>
                </a:moveTo>
                <a:lnTo>
                  <a:pt x="1980023" y="0"/>
                </a:lnTo>
                <a:lnTo>
                  <a:pt x="1980023" y="910811"/>
                </a:lnTo>
                <a:lnTo>
                  <a:pt x="0" y="9108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8759055" y="875897"/>
            <a:ext cx="1320015" cy="607207"/>
          </a:xfrm>
          <a:custGeom>
            <a:avLst/>
            <a:gdLst/>
            <a:ahLst/>
            <a:cxnLst/>
            <a:rect l="l" t="t" r="r" b="b"/>
            <a:pathLst>
              <a:path w="1980023" h="910811">
                <a:moveTo>
                  <a:pt x="1980023" y="910811"/>
                </a:moveTo>
                <a:lnTo>
                  <a:pt x="0" y="910811"/>
                </a:lnTo>
                <a:lnTo>
                  <a:pt x="0" y="0"/>
                </a:lnTo>
                <a:lnTo>
                  <a:pt x="1980023" y="0"/>
                </a:lnTo>
                <a:lnTo>
                  <a:pt x="1980023" y="9108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10643061" y="5052782"/>
            <a:ext cx="1726279" cy="438193"/>
          </a:xfrm>
          <a:custGeom>
            <a:avLst/>
            <a:gdLst/>
            <a:ahLst/>
            <a:cxnLst/>
            <a:rect l="l" t="t" r="r" b="b"/>
            <a:pathLst>
              <a:path w="2589419" h="657290">
                <a:moveTo>
                  <a:pt x="0" y="0"/>
                </a:moveTo>
                <a:lnTo>
                  <a:pt x="2589418" y="0"/>
                </a:lnTo>
                <a:lnTo>
                  <a:pt x="2589418" y="657290"/>
                </a:lnTo>
                <a:lnTo>
                  <a:pt x="0" y="6572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325842" y="1589224"/>
            <a:ext cx="7554270" cy="2017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9"/>
              </a:lnSpc>
            </a:pPr>
            <a:r>
              <a:rPr lang="en-US" sz="386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РЕАЛИЗАЦИЯ МЕТОДА МОНТЕ–КАРЛО</a:t>
            </a:r>
          </a:p>
          <a:p>
            <a:pPr algn="ctr">
              <a:lnSpc>
                <a:spcPts val="5409"/>
              </a:lnSpc>
              <a:spcBef>
                <a:spcPct val="0"/>
              </a:spcBef>
            </a:pPr>
            <a:endParaRPr lang="en-US" sz="3864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465322" y="2999356"/>
            <a:ext cx="3292849" cy="1252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90"/>
              </a:lnSpc>
              <a:spcBef>
                <a:spcPct val="0"/>
              </a:spcBef>
            </a:pPr>
            <a:r>
              <a:rPr lang="en-US" sz="7636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2026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65482" y="5208445"/>
            <a:ext cx="6331842" cy="1575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8"/>
              </a:lnSpc>
            </a:pPr>
            <a:r>
              <a:rPr lang="en-US" sz="182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Подготовил</a:t>
            </a:r>
            <a:r>
              <a:rPr lang="en-US" sz="182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- </a:t>
            </a:r>
            <a:r>
              <a:rPr lang="en-US" sz="182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Филипков</a:t>
            </a:r>
            <a:r>
              <a:rPr lang="en-US" sz="182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Захар </a:t>
            </a:r>
            <a:r>
              <a:rPr lang="en-US" sz="182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Николаевич</a:t>
            </a:r>
            <a:r>
              <a:rPr lang="en-US" sz="182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, </a:t>
            </a:r>
            <a:r>
              <a:rPr lang="en-US" sz="182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учащийся</a:t>
            </a:r>
            <a:r>
              <a:rPr lang="en-US" sz="182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182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группы</a:t>
            </a:r>
            <a:r>
              <a:rPr lang="en-US" sz="182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ru-RU" sz="182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3</a:t>
            </a:r>
            <a:r>
              <a:rPr lang="en-US" sz="182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ПОИС24</a:t>
            </a:r>
          </a:p>
          <a:p>
            <a:pPr algn="ctr">
              <a:lnSpc>
                <a:spcPts val="2548"/>
              </a:lnSpc>
            </a:pPr>
            <a:endParaRPr lang="en-US" sz="182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ctr">
              <a:lnSpc>
                <a:spcPts val="2548"/>
              </a:lnSpc>
            </a:pPr>
            <a:r>
              <a:rPr lang="en-US" sz="182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Руководитель</a:t>
            </a:r>
            <a:r>
              <a:rPr lang="en-US" sz="182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182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проектирования</a:t>
            </a:r>
            <a:r>
              <a:rPr lang="en-US" sz="182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– </a:t>
            </a:r>
            <a:r>
              <a:rPr lang="ru-RU" sz="182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Ковалёв</a:t>
            </a:r>
            <a:r>
              <a:rPr lang="en-US" sz="182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ru-RU" sz="182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И</a:t>
            </a:r>
            <a:r>
              <a:rPr lang="en-US" sz="182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.</a:t>
            </a:r>
            <a:r>
              <a:rPr lang="ru-RU" sz="182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И</a:t>
            </a:r>
            <a:r>
              <a:rPr lang="en-US" sz="182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.</a:t>
            </a:r>
          </a:p>
          <a:p>
            <a:pPr algn="ctr">
              <a:lnSpc>
                <a:spcPts val="2548"/>
              </a:lnSpc>
              <a:spcBef>
                <a:spcPct val="0"/>
              </a:spcBef>
            </a:pPr>
            <a:endParaRPr lang="en-US" sz="182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603792" y="120987"/>
            <a:ext cx="6855222" cy="37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Оршанский колледж УО «ВГУ им. П.М. Машерова»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7233" y="-108885"/>
            <a:ext cx="12386467" cy="7075769"/>
          </a:xfrm>
          <a:custGeom>
            <a:avLst/>
            <a:gdLst/>
            <a:ahLst/>
            <a:cxnLst/>
            <a:rect l="l" t="t" r="r" b="b"/>
            <a:pathLst>
              <a:path w="18579701" h="10613654">
                <a:moveTo>
                  <a:pt x="0" y="0"/>
                </a:moveTo>
                <a:lnTo>
                  <a:pt x="18579700" y="0"/>
                </a:lnTo>
                <a:lnTo>
                  <a:pt x="18579700" y="10613654"/>
                </a:lnTo>
                <a:lnTo>
                  <a:pt x="0" y="10613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7029" y="4342400"/>
            <a:ext cx="1525659" cy="2913585"/>
          </a:xfrm>
          <a:custGeom>
            <a:avLst/>
            <a:gdLst/>
            <a:ahLst/>
            <a:cxnLst/>
            <a:rect l="l" t="t" r="r" b="b"/>
            <a:pathLst>
              <a:path w="2288489" h="4370377">
                <a:moveTo>
                  <a:pt x="0" y="0"/>
                </a:moveTo>
                <a:lnTo>
                  <a:pt x="2288488" y="0"/>
                </a:lnTo>
                <a:lnTo>
                  <a:pt x="2288488" y="4370377"/>
                </a:lnTo>
                <a:lnTo>
                  <a:pt x="0" y="43703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0729825" y="-390090"/>
            <a:ext cx="1462175" cy="2792349"/>
          </a:xfrm>
          <a:custGeom>
            <a:avLst/>
            <a:gdLst/>
            <a:ahLst/>
            <a:cxnLst/>
            <a:rect l="l" t="t" r="r" b="b"/>
            <a:pathLst>
              <a:path w="2193263" h="4188523">
                <a:moveTo>
                  <a:pt x="2193263" y="4188522"/>
                </a:moveTo>
                <a:lnTo>
                  <a:pt x="0" y="4188522"/>
                </a:lnTo>
                <a:lnTo>
                  <a:pt x="0" y="0"/>
                </a:lnTo>
                <a:lnTo>
                  <a:pt x="2193263" y="0"/>
                </a:lnTo>
                <a:lnTo>
                  <a:pt x="2193263" y="41885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076917" y="1006084"/>
            <a:ext cx="2153833" cy="2169613"/>
          </a:xfrm>
          <a:custGeom>
            <a:avLst/>
            <a:gdLst/>
            <a:ahLst/>
            <a:cxnLst/>
            <a:rect l="l" t="t" r="r" b="b"/>
            <a:pathLst>
              <a:path w="3230750" h="3254419">
                <a:moveTo>
                  <a:pt x="0" y="0"/>
                </a:moveTo>
                <a:lnTo>
                  <a:pt x="3230750" y="0"/>
                </a:lnTo>
                <a:lnTo>
                  <a:pt x="3230750" y="3254419"/>
                </a:lnTo>
                <a:lnTo>
                  <a:pt x="0" y="32544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115084" y="4002588"/>
            <a:ext cx="2153833" cy="2169613"/>
          </a:xfrm>
          <a:custGeom>
            <a:avLst/>
            <a:gdLst/>
            <a:ahLst/>
            <a:cxnLst/>
            <a:rect l="l" t="t" r="r" b="b"/>
            <a:pathLst>
              <a:path w="3230750" h="3254419">
                <a:moveTo>
                  <a:pt x="0" y="0"/>
                </a:moveTo>
                <a:lnTo>
                  <a:pt x="3230750" y="0"/>
                </a:lnTo>
                <a:lnTo>
                  <a:pt x="3230750" y="3254419"/>
                </a:lnTo>
                <a:lnTo>
                  <a:pt x="0" y="32544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400000">
            <a:off x="-73772" y="3766364"/>
            <a:ext cx="944238" cy="115025"/>
          </a:xfrm>
          <a:custGeom>
            <a:avLst/>
            <a:gdLst/>
            <a:ahLst/>
            <a:cxnLst/>
            <a:rect l="l" t="t" r="r" b="b"/>
            <a:pathLst>
              <a:path w="1416357" h="172538">
                <a:moveTo>
                  <a:pt x="0" y="0"/>
                </a:moveTo>
                <a:lnTo>
                  <a:pt x="1416357" y="0"/>
                </a:lnTo>
                <a:lnTo>
                  <a:pt x="1416357" y="172538"/>
                </a:lnTo>
                <a:lnTo>
                  <a:pt x="0" y="1725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400000">
            <a:off x="11045857" y="3111840"/>
            <a:ext cx="1048401" cy="127714"/>
          </a:xfrm>
          <a:custGeom>
            <a:avLst/>
            <a:gdLst/>
            <a:ahLst/>
            <a:cxnLst/>
            <a:rect l="l" t="t" r="r" b="b"/>
            <a:pathLst>
              <a:path w="1572602" h="191571">
                <a:moveTo>
                  <a:pt x="0" y="0"/>
                </a:moveTo>
                <a:lnTo>
                  <a:pt x="1572602" y="0"/>
                </a:lnTo>
                <a:lnTo>
                  <a:pt x="1572602" y="191571"/>
                </a:lnTo>
                <a:lnTo>
                  <a:pt x="0" y="1915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032016" y="911666"/>
            <a:ext cx="5697809" cy="4672203"/>
          </a:xfrm>
          <a:custGeom>
            <a:avLst/>
            <a:gdLst/>
            <a:ahLst/>
            <a:cxnLst/>
            <a:rect l="l" t="t" r="r" b="b"/>
            <a:pathLst>
              <a:path w="8546713" h="7008305">
                <a:moveTo>
                  <a:pt x="0" y="0"/>
                </a:moveTo>
                <a:lnTo>
                  <a:pt x="8546713" y="0"/>
                </a:lnTo>
                <a:lnTo>
                  <a:pt x="8546713" y="7008305"/>
                </a:lnTo>
                <a:lnTo>
                  <a:pt x="0" y="7008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154389" y="839595"/>
            <a:ext cx="3476736" cy="4672203"/>
            <a:chOff x="0" y="0"/>
            <a:chExt cx="3663950" cy="4923790"/>
          </a:xfrm>
        </p:grpSpPr>
        <p:sp>
          <p:nvSpPr>
            <p:cNvPr id="11" name="Freeform 11"/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9"/>
              <a:stretch>
                <a:fillRect l="-17477" r="-17477"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3662687" cy="4923790"/>
            </a:xfrm>
            <a:custGeom>
              <a:avLst/>
              <a:gdLst/>
              <a:ahLst/>
              <a:cxnLst/>
              <a:rect l="l" t="t" r="r" b="b"/>
              <a:pathLst>
                <a:path w="3662687" h="492379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5648258" y="1060159"/>
            <a:ext cx="4855478" cy="784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85"/>
              </a:lnSpc>
            </a:pPr>
            <a:r>
              <a:rPr lang="en-US" sz="227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Актуальность проекта</a:t>
            </a:r>
          </a:p>
          <a:p>
            <a:pPr>
              <a:lnSpc>
                <a:spcPts val="3185"/>
              </a:lnSpc>
              <a:spcBef>
                <a:spcPct val="0"/>
              </a:spcBef>
            </a:pPr>
            <a:endParaRPr lang="en-US" sz="2275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254292" y="1695340"/>
            <a:ext cx="5319953" cy="4124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03"/>
              </a:lnSpc>
              <a:spcBef>
                <a:spcPct val="0"/>
              </a:spcBef>
            </a:pPr>
            <a:r>
              <a:rPr lang="en-US" sz="193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Современное управление инвестиционными портфелями требует точных методов измерения рыночных рисков.</a:t>
            </a:r>
          </a:p>
          <a:p>
            <a:pPr algn="just">
              <a:lnSpc>
                <a:spcPts val="2703"/>
              </a:lnSpc>
              <a:spcBef>
                <a:spcPct val="0"/>
              </a:spcBef>
            </a:pPr>
            <a:r>
              <a:rPr lang="en-US" sz="193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Стандартизированный показатель Value at Risk (VaR) позволяет оценить максимальные потери с заданной вероятностью. Однако классические подходы часто не учитывают "эффект тяжелых хвостов". Метод имитационного моделирования Монте-Карло решает эту проблему путем генерации тысяч случайных сценариев.</a:t>
            </a:r>
          </a:p>
          <a:p>
            <a:pPr algn="just">
              <a:lnSpc>
                <a:spcPts val="2703"/>
              </a:lnSpc>
              <a:spcBef>
                <a:spcPct val="0"/>
              </a:spcBef>
            </a:pPr>
            <a:endParaRPr lang="en-US" sz="1931">
              <a:solidFill>
                <a:srgbClr val="000000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7233" y="-108885"/>
            <a:ext cx="12386467" cy="7075769"/>
          </a:xfrm>
          <a:custGeom>
            <a:avLst/>
            <a:gdLst/>
            <a:ahLst/>
            <a:cxnLst/>
            <a:rect l="l" t="t" r="r" b="b"/>
            <a:pathLst>
              <a:path w="18579701" h="10613654">
                <a:moveTo>
                  <a:pt x="0" y="0"/>
                </a:moveTo>
                <a:lnTo>
                  <a:pt x="18579700" y="0"/>
                </a:lnTo>
                <a:lnTo>
                  <a:pt x="18579700" y="10613654"/>
                </a:lnTo>
                <a:lnTo>
                  <a:pt x="0" y="10613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97233" y="0"/>
            <a:ext cx="1235663" cy="2359773"/>
          </a:xfrm>
          <a:custGeom>
            <a:avLst/>
            <a:gdLst/>
            <a:ahLst/>
            <a:cxnLst/>
            <a:rect l="l" t="t" r="r" b="b"/>
            <a:pathLst>
              <a:path w="1853495" h="3539660">
                <a:moveTo>
                  <a:pt x="0" y="3539660"/>
                </a:moveTo>
                <a:lnTo>
                  <a:pt x="1853494" y="3539660"/>
                </a:lnTo>
                <a:lnTo>
                  <a:pt x="1853494" y="0"/>
                </a:lnTo>
                <a:lnTo>
                  <a:pt x="0" y="0"/>
                </a:lnTo>
                <a:lnTo>
                  <a:pt x="0" y="353966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1094618" y="4784704"/>
            <a:ext cx="1142669" cy="2182181"/>
          </a:xfrm>
          <a:custGeom>
            <a:avLst/>
            <a:gdLst/>
            <a:ahLst/>
            <a:cxnLst/>
            <a:rect l="l" t="t" r="r" b="b"/>
            <a:pathLst>
              <a:path w="1714004" h="3273272">
                <a:moveTo>
                  <a:pt x="1714004" y="0"/>
                </a:moveTo>
                <a:lnTo>
                  <a:pt x="0" y="0"/>
                </a:lnTo>
                <a:lnTo>
                  <a:pt x="0" y="3273272"/>
                </a:lnTo>
                <a:lnTo>
                  <a:pt x="1714004" y="3273272"/>
                </a:lnTo>
                <a:lnTo>
                  <a:pt x="171400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>
            <a:off x="105992" y="5199310"/>
            <a:ext cx="944238" cy="115025"/>
          </a:xfrm>
          <a:custGeom>
            <a:avLst/>
            <a:gdLst/>
            <a:ahLst/>
            <a:cxnLst/>
            <a:rect l="l" t="t" r="r" b="b"/>
            <a:pathLst>
              <a:path w="1416357" h="172538">
                <a:moveTo>
                  <a:pt x="0" y="0"/>
                </a:moveTo>
                <a:lnTo>
                  <a:pt x="1416356" y="0"/>
                </a:lnTo>
                <a:lnTo>
                  <a:pt x="1416356" y="172538"/>
                </a:lnTo>
                <a:lnTo>
                  <a:pt x="0" y="1725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>
            <a:off x="11045857" y="1640230"/>
            <a:ext cx="1048401" cy="127714"/>
          </a:xfrm>
          <a:custGeom>
            <a:avLst/>
            <a:gdLst/>
            <a:ahLst/>
            <a:cxnLst/>
            <a:rect l="l" t="t" r="r" b="b"/>
            <a:pathLst>
              <a:path w="1572602" h="191571">
                <a:moveTo>
                  <a:pt x="0" y="0"/>
                </a:moveTo>
                <a:lnTo>
                  <a:pt x="1572602" y="0"/>
                </a:lnTo>
                <a:lnTo>
                  <a:pt x="1572602" y="191572"/>
                </a:lnTo>
                <a:lnTo>
                  <a:pt x="0" y="1915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0591852" y="438757"/>
            <a:ext cx="1074101" cy="494087"/>
          </a:xfrm>
          <a:custGeom>
            <a:avLst/>
            <a:gdLst/>
            <a:ahLst/>
            <a:cxnLst/>
            <a:rect l="l" t="t" r="r" b="b"/>
            <a:pathLst>
              <a:path w="1611152" h="741130">
                <a:moveTo>
                  <a:pt x="1611152" y="0"/>
                </a:moveTo>
                <a:lnTo>
                  <a:pt x="0" y="0"/>
                </a:lnTo>
                <a:lnTo>
                  <a:pt x="0" y="741130"/>
                </a:lnTo>
                <a:lnTo>
                  <a:pt x="1611152" y="741130"/>
                </a:lnTo>
                <a:lnTo>
                  <a:pt x="161115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506200" y="4165270"/>
            <a:ext cx="1109219" cy="281561"/>
          </a:xfrm>
          <a:custGeom>
            <a:avLst/>
            <a:gdLst/>
            <a:ahLst/>
            <a:cxnLst/>
            <a:rect l="l" t="t" r="r" b="b"/>
            <a:pathLst>
              <a:path w="1663828" h="422341">
                <a:moveTo>
                  <a:pt x="0" y="0"/>
                </a:moveTo>
                <a:lnTo>
                  <a:pt x="1663828" y="0"/>
                </a:lnTo>
                <a:lnTo>
                  <a:pt x="1663828" y="422341"/>
                </a:lnTo>
                <a:lnTo>
                  <a:pt x="0" y="4223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510257" y="2673519"/>
            <a:ext cx="1196057" cy="303603"/>
          </a:xfrm>
          <a:custGeom>
            <a:avLst/>
            <a:gdLst/>
            <a:ahLst/>
            <a:cxnLst/>
            <a:rect l="l" t="t" r="r" b="b"/>
            <a:pathLst>
              <a:path w="1794085" h="455405">
                <a:moveTo>
                  <a:pt x="0" y="0"/>
                </a:moveTo>
                <a:lnTo>
                  <a:pt x="1794085" y="0"/>
                </a:lnTo>
                <a:lnTo>
                  <a:pt x="1794085" y="455405"/>
                </a:lnTo>
                <a:lnTo>
                  <a:pt x="0" y="4554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38430" y="898637"/>
            <a:ext cx="9915141" cy="5060727"/>
          </a:xfrm>
          <a:custGeom>
            <a:avLst/>
            <a:gdLst/>
            <a:ahLst/>
            <a:cxnLst/>
            <a:rect l="l" t="t" r="r" b="b"/>
            <a:pathLst>
              <a:path w="14872711" h="7591090">
                <a:moveTo>
                  <a:pt x="0" y="0"/>
                </a:moveTo>
                <a:lnTo>
                  <a:pt x="14872712" y="0"/>
                </a:lnTo>
                <a:lnTo>
                  <a:pt x="14872712" y="7591090"/>
                </a:lnTo>
                <a:lnTo>
                  <a:pt x="0" y="75910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20598" y="5965391"/>
            <a:ext cx="1074101" cy="494087"/>
          </a:xfrm>
          <a:custGeom>
            <a:avLst/>
            <a:gdLst/>
            <a:ahLst/>
            <a:cxnLst/>
            <a:rect l="l" t="t" r="r" b="b"/>
            <a:pathLst>
              <a:path w="1611152" h="741130">
                <a:moveTo>
                  <a:pt x="0" y="0"/>
                </a:moveTo>
                <a:lnTo>
                  <a:pt x="1611152" y="0"/>
                </a:lnTo>
                <a:lnTo>
                  <a:pt x="1611152" y="741131"/>
                </a:lnTo>
                <a:lnTo>
                  <a:pt x="0" y="7411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106515" y="925171"/>
            <a:ext cx="5352889" cy="1274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174"/>
              </a:lnSpc>
            </a:pPr>
            <a:r>
              <a:rPr lang="en-US" sz="3696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Цель проектировани</a:t>
            </a:r>
          </a:p>
          <a:p>
            <a:pPr>
              <a:lnSpc>
                <a:spcPts val="5174"/>
              </a:lnSpc>
              <a:spcBef>
                <a:spcPct val="0"/>
              </a:spcBef>
            </a:pPr>
            <a:endParaRPr lang="en-US" sz="3696" b="1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428703" y="1845676"/>
            <a:ext cx="9334595" cy="3449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91"/>
              </a:lnSpc>
              <a:spcBef>
                <a:spcPct val="0"/>
              </a:spcBef>
            </a:pPr>
            <a:r>
              <a:rPr lang="en-US" sz="2422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Исследование стохастических финансовых процессов и разработка автономного десктопного ПО. Программа должна обеспечивать быструю, научно обоснованную оценку рисков методом статистических испытаний Монте-Карло на платформе .NET (C#) с интуитивно понятным интерактивным графическим интерфейсом и функцией экспорта отчетов.</a:t>
            </a:r>
          </a:p>
          <a:p>
            <a:pPr algn="ctr">
              <a:lnSpc>
                <a:spcPts val="3391"/>
              </a:lnSpc>
              <a:spcBef>
                <a:spcPct val="0"/>
              </a:spcBef>
            </a:pPr>
            <a:endParaRPr lang="en-US" sz="2422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7233" y="-108885"/>
            <a:ext cx="12386467" cy="7075769"/>
          </a:xfrm>
          <a:custGeom>
            <a:avLst/>
            <a:gdLst/>
            <a:ahLst/>
            <a:cxnLst/>
            <a:rect l="l" t="t" r="r" b="b"/>
            <a:pathLst>
              <a:path w="18579701" h="10613654">
                <a:moveTo>
                  <a:pt x="0" y="0"/>
                </a:moveTo>
                <a:lnTo>
                  <a:pt x="18579700" y="0"/>
                </a:lnTo>
                <a:lnTo>
                  <a:pt x="18579700" y="10613654"/>
                </a:lnTo>
                <a:lnTo>
                  <a:pt x="0" y="10613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7029" y="4342400"/>
            <a:ext cx="1525659" cy="2913585"/>
          </a:xfrm>
          <a:custGeom>
            <a:avLst/>
            <a:gdLst/>
            <a:ahLst/>
            <a:cxnLst/>
            <a:rect l="l" t="t" r="r" b="b"/>
            <a:pathLst>
              <a:path w="2288489" h="4370377">
                <a:moveTo>
                  <a:pt x="0" y="0"/>
                </a:moveTo>
                <a:lnTo>
                  <a:pt x="2288488" y="0"/>
                </a:lnTo>
                <a:lnTo>
                  <a:pt x="2288488" y="4370377"/>
                </a:lnTo>
                <a:lnTo>
                  <a:pt x="0" y="43703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0729825" y="-390090"/>
            <a:ext cx="1462175" cy="2792349"/>
          </a:xfrm>
          <a:custGeom>
            <a:avLst/>
            <a:gdLst/>
            <a:ahLst/>
            <a:cxnLst/>
            <a:rect l="l" t="t" r="r" b="b"/>
            <a:pathLst>
              <a:path w="2193263" h="4188523">
                <a:moveTo>
                  <a:pt x="2193263" y="4188522"/>
                </a:moveTo>
                <a:lnTo>
                  <a:pt x="0" y="4188522"/>
                </a:lnTo>
                <a:lnTo>
                  <a:pt x="0" y="0"/>
                </a:lnTo>
                <a:lnTo>
                  <a:pt x="2193263" y="0"/>
                </a:lnTo>
                <a:lnTo>
                  <a:pt x="2193263" y="41885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076917" y="1006084"/>
            <a:ext cx="2153833" cy="2169613"/>
          </a:xfrm>
          <a:custGeom>
            <a:avLst/>
            <a:gdLst/>
            <a:ahLst/>
            <a:cxnLst/>
            <a:rect l="l" t="t" r="r" b="b"/>
            <a:pathLst>
              <a:path w="3230750" h="3254419">
                <a:moveTo>
                  <a:pt x="0" y="0"/>
                </a:moveTo>
                <a:lnTo>
                  <a:pt x="3230750" y="0"/>
                </a:lnTo>
                <a:lnTo>
                  <a:pt x="3230750" y="3254419"/>
                </a:lnTo>
                <a:lnTo>
                  <a:pt x="0" y="32544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115084" y="4002588"/>
            <a:ext cx="2153833" cy="2169613"/>
          </a:xfrm>
          <a:custGeom>
            <a:avLst/>
            <a:gdLst/>
            <a:ahLst/>
            <a:cxnLst/>
            <a:rect l="l" t="t" r="r" b="b"/>
            <a:pathLst>
              <a:path w="3230750" h="3254419">
                <a:moveTo>
                  <a:pt x="0" y="0"/>
                </a:moveTo>
                <a:lnTo>
                  <a:pt x="3230750" y="0"/>
                </a:lnTo>
                <a:lnTo>
                  <a:pt x="3230750" y="3254419"/>
                </a:lnTo>
                <a:lnTo>
                  <a:pt x="0" y="32544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400000">
            <a:off x="-73772" y="3766364"/>
            <a:ext cx="944238" cy="115025"/>
          </a:xfrm>
          <a:custGeom>
            <a:avLst/>
            <a:gdLst/>
            <a:ahLst/>
            <a:cxnLst/>
            <a:rect l="l" t="t" r="r" b="b"/>
            <a:pathLst>
              <a:path w="1416357" h="172538">
                <a:moveTo>
                  <a:pt x="0" y="0"/>
                </a:moveTo>
                <a:lnTo>
                  <a:pt x="1416357" y="0"/>
                </a:lnTo>
                <a:lnTo>
                  <a:pt x="1416357" y="172538"/>
                </a:lnTo>
                <a:lnTo>
                  <a:pt x="0" y="1725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400000">
            <a:off x="11045857" y="3111840"/>
            <a:ext cx="1048401" cy="127714"/>
          </a:xfrm>
          <a:custGeom>
            <a:avLst/>
            <a:gdLst/>
            <a:ahLst/>
            <a:cxnLst/>
            <a:rect l="l" t="t" r="r" b="b"/>
            <a:pathLst>
              <a:path w="1572602" h="191571">
                <a:moveTo>
                  <a:pt x="0" y="0"/>
                </a:moveTo>
                <a:lnTo>
                  <a:pt x="1572602" y="0"/>
                </a:lnTo>
                <a:lnTo>
                  <a:pt x="1572602" y="191571"/>
                </a:lnTo>
                <a:lnTo>
                  <a:pt x="0" y="1915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1736073" y="1312248"/>
            <a:ext cx="8405874" cy="4233504"/>
          </a:xfrm>
          <a:custGeom>
            <a:avLst/>
            <a:gdLst/>
            <a:ahLst/>
            <a:cxnLst/>
            <a:rect l="l" t="t" r="r" b="b"/>
            <a:pathLst>
              <a:path w="12608811" h="6350256">
                <a:moveTo>
                  <a:pt x="12608810" y="0"/>
                </a:moveTo>
                <a:lnTo>
                  <a:pt x="0" y="0"/>
                </a:lnTo>
                <a:lnTo>
                  <a:pt x="0" y="6350256"/>
                </a:lnTo>
                <a:lnTo>
                  <a:pt x="12608810" y="6350256"/>
                </a:lnTo>
                <a:lnTo>
                  <a:pt x="1260881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039277" y="2224067"/>
            <a:ext cx="4753447" cy="1447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52"/>
              </a:lnSpc>
              <a:spcBef>
                <a:spcPct val="0"/>
              </a:spcBef>
            </a:pPr>
            <a:r>
              <a:rPr lang="en-US" sz="1608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Теория и анализ</a:t>
            </a:r>
          </a:p>
          <a:p>
            <a:pPr algn="just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Изучить стохастические методы и аппарат геометрического броуновского движения (ГБД). Исследовать численный метод дискретизации.</a:t>
            </a:r>
          </a:p>
          <a:p>
            <a:pPr algn="just">
              <a:lnSpc>
                <a:spcPts val="2252"/>
              </a:lnSpc>
              <a:spcBef>
                <a:spcPct val="0"/>
              </a:spcBef>
            </a:pPr>
            <a:endParaRPr lang="en-US" sz="160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039277" y="1465294"/>
            <a:ext cx="6359353" cy="834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38"/>
              </a:lnSpc>
            </a:pPr>
            <a:r>
              <a:rPr lang="en-US" sz="245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Задачи исследования и разработки</a:t>
            </a:r>
          </a:p>
          <a:p>
            <a:pPr>
              <a:lnSpc>
                <a:spcPts val="3438"/>
              </a:lnSpc>
              <a:spcBef>
                <a:spcPct val="0"/>
              </a:spcBef>
            </a:pPr>
            <a:endParaRPr lang="en-US" sz="2455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039229" y="3146693"/>
            <a:ext cx="4753447" cy="1669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49"/>
              </a:lnSpc>
              <a:spcBef>
                <a:spcPct val="0"/>
              </a:spcBef>
            </a:pPr>
            <a:endParaRPr sz="1200"/>
          </a:p>
          <a:p>
            <a:pPr algn="just">
              <a:lnSpc>
                <a:spcPts val="2249"/>
              </a:lnSpc>
              <a:spcBef>
                <a:spcPct val="0"/>
              </a:spcBef>
            </a:pPr>
            <a:r>
              <a:rPr lang="en-US" sz="1606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Программирование</a:t>
            </a:r>
          </a:p>
          <a:p>
            <a:pPr algn="just">
              <a:lnSpc>
                <a:spcPts val="2249"/>
              </a:lnSpc>
              <a:spcBef>
                <a:spcPct val="0"/>
              </a:spcBef>
            </a:pPr>
            <a:r>
              <a:rPr lang="en-US" sz="16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Разработать на языке C# расчетное ядро стохастической симуляции и построить асинхронный графический интерфейс для визуализации "веера" траекторий.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83273" y="2176808"/>
            <a:ext cx="2523991" cy="2515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  <a:spcBef>
                <a:spcPct val="0"/>
              </a:spcBef>
            </a:pPr>
            <a:r>
              <a:rPr lang="en-US" sz="1606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Тестирование</a:t>
            </a:r>
          </a:p>
          <a:p>
            <a:pPr algn="just">
              <a:lnSpc>
                <a:spcPts val="2249"/>
              </a:lnSpc>
              <a:spcBef>
                <a:spcPct val="0"/>
              </a:spcBef>
            </a:pPr>
            <a:r>
              <a:rPr lang="en-US" sz="16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Провести верификацию результатов, сопоставить их с аналитическими решениями и протестировать систему на отказоустойчивость при критических нагрузках.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7233" y="-108885"/>
            <a:ext cx="12386467" cy="7075769"/>
          </a:xfrm>
          <a:custGeom>
            <a:avLst/>
            <a:gdLst/>
            <a:ahLst/>
            <a:cxnLst/>
            <a:rect l="l" t="t" r="r" b="b"/>
            <a:pathLst>
              <a:path w="18579701" h="10613654">
                <a:moveTo>
                  <a:pt x="0" y="0"/>
                </a:moveTo>
                <a:lnTo>
                  <a:pt x="18579700" y="0"/>
                </a:lnTo>
                <a:lnTo>
                  <a:pt x="18579700" y="10613654"/>
                </a:lnTo>
                <a:lnTo>
                  <a:pt x="0" y="10613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1094618" y="4784704"/>
            <a:ext cx="1142669" cy="2182181"/>
          </a:xfrm>
          <a:custGeom>
            <a:avLst/>
            <a:gdLst/>
            <a:ahLst/>
            <a:cxnLst/>
            <a:rect l="l" t="t" r="r" b="b"/>
            <a:pathLst>
              <a:path w="1714004" h="3273272">
                <a:moveTo>
                  <a:pt x="1714004" y="0"/>
                </a:moveTo>
                <a:lnTo>
                  <a:pt x="0" y="0"/>
                </a:lnTo>
                <a:lnTo>
                  <a:pt x="0" y="3273272"/>
                </a:lnTo>
                <a:lnTo>
                  <a:pt x="1714004" y="3273272"/>
                </a:lnTo>
                <a:lnTo>
                  <a:pt x="171400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97233" y="0"/>
            <a:ext cx="1235663" cy="2359773"/>
          </a:xfrm>
          <a:custGeom>
            <a:avLst/>
            <a:gdLst/>
            <a:ahLst/>
            <a:cxnLst/>
            <a:rect l="l" t="t" r="r" b="b"/>
            <a:pathLst>
              <a:path w="1853495" h="3539660">
                <a:moveTo>
                  <a:pt x="0" y="3539660"/>
                </a:moveTo>
                <a:lnTo>
                  <a:pt x="1853494" y="3539660"/>
                </a:lnTo>
                <a:lnTo>
                  <a:pt x="1853494" y="0"/>
                </a:lnTo>
                <a:lnTo>
                  <a:pt x="0" y="0"/>
                </a:lnTo>
                <a:lnTo>
                  <a:pt x="0" y="353966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154389" y="839595"/>
            <a:ext cx="3476736" cy="4672203"/>
            <a:chOff x="0" y="0"/>
            <a:chExt cx="3663950" cy="4923790"/>
          </a:xfrm>
        </p:grpSpPr>
        <p:sp>
          <p:nvSpPr>
            <p:cNvPr id="6" name="Freeform 6"/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4"/>
              <a:stretch>
                <a:fillRect l="-60055" r="-60055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3662687" cy="4923790"/>
            </a:xfrm>
            <a:custGeom>
              <a:avLst/>
              <a:gdLst/>
              <a:ahLst/>
              <a:cxnLst/>
              <a:rect l="l" t="t" r="r" b="b"/>
              <a:pathLst>
                <a:path w="3662687" h="492379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5032016" y="911666"/>
            <a:ext cx="5697809" cy="4672203"/>
          </a:xfrm>
          <a:custGeom>
            <a:avLst/>
            <a:gdLst/>
            <a:ahLst/>
            <a:cxnLst/>
            <a:rect l="l" t="t" r="r" b="b"/>
            <a:pathLst>
              <a:path w="8546713" h="7008305">
                <a:moveTo>
                  <a:pt x="0" y="0"/>
                </a:moveTo>
                <a:lnTo>
                  <a:pt x="8546713" y="0"/>
                </a:lnTo>
                <a:lnTo>
                  <a:pt x="8546713" y="7008305"/>
                </a:lnTo>
                <a:lnTo>
                  <a:pt x="0" y="7008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631126" y="1041647"/>
            <a:ext cx="5697809" cy="409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0"/>
              </a:lnSpc>
              <a:spcBef>
                <a:spcPct val="0"/>
              </a:spcBef>
            </a:pPr>
            <a:r>
              <a:rPr lang="en-US" sz="251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Сфера применения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32017" y="1690383"/>
            <a:ext cx="5594699" cy="3667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406" lvl="1" indent="-188703">
              <a:lnSpc>
                <a:spcPts val="2447"/>
              </a:lnSpc>
              <a:buFont typeface="Arial"/>
              <a:buChar char="•"/>
            </a:pPr>
            <a:r>
              <a:rPr lang="en-US" sz="174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Оценка рыночных рисков: расчет показателей VaR (Value at Risk) и моделирование убытков.</a:t>
            </a:r>
          </a:p>
          <a:p>
            <a:pPr marL="377406" lvl="1" indent="-188703">
              <a:lnSpc>
                <a:spcPts val="2447"/>
              </a:lnSpc>
              <a:buFont typeface="Arial"/>
              <a:buChar char="•"/>
            </a:pPr>
            <a:r>
              <a:rPr lang="en-US" sz="174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Ценообразование деривативов: расчет стоимости сложных и экзотических опционов.</a:t>
            </a:r>
          </a:p>
          <a:p>
            <a:pPr marL="377406" lvl="1" indent="-188703">
              <a:lnSpc>
                <a:spcPts val="2447"/>
              </a:lnSpc>
              <a:buFont typeface="Arial"/>
              <a:buChar char="•"/>
            </a:pPr>
            <a:r>
              <a:rPr lang="en-US" sz="174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Управление портфелем: оптимизация распределения активов с учетом неопределенности.</a:t>
            </a:r>
          </a:p>
          <a:p>
            <a:pPr marL="377406" lvl="1" indent="-188703">
              <a:lnSpc>
                <a:spcPts val="2447"/>
              </a:lnSpc>
              <a:buFont typeface="Arial"/>
              <a:buChar char="•"/>
            </a:pPr>
            <a:r>
              <a:rPr lang="en-US" sz="174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Корпоративные финансы: стресс-тестирование инвестиционных проектов и оценка NPV.</a:t>
            </a:r>
          </a:p>
          <a:p>
            <a:pPr marL="377406" lvl="1" indent="-188703">
              <a:lnSpc>
                <a:spcPts val="2447"/>
              </a:lnSpc>
              <a:buFont typeface="Arial"/>
              <a:buChar char="•"/>
            </a:pPr>
            <a:r>
              <a:rPr lang="en-US" sz="174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Бюджетирование и прогнозирование: моделирование денежных потоков и сценариев развития компании.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7233" y="-108885"/>
            <a:ext cx="12386467" cy="7075769"/>
          </a:xfrm>
          <a:custGeom>
            <a:avLst/>
            <a:gdLst/>
            <a:ahLst/>
            <a:cxnLst/>
            <a:rect l="l" t="t" r="r" b="b"/>
            <a:pathLst>
              <a:path w="18579701" h="10613654">
                <a:moveTo>
                  <a:pt x="0" y="0"/>
                </a:moveTo>
                <a:lnTo>
                  <a:pt x="18579700" y="0"/>
                </a:lnTo>
                <a:lnTo>
                  <a:pt x="18579700" y="10613654"/>
                </a:lnTo>
                <a:lnTo>
                  <a:pt x="0" y="10613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0478686" y="-704302"/>
            <a:ext cx="1966524" cy="3755514"/>
          </a:xfrm>
          <a:custGeom>
            <a:avLst/>
            <a:gdLst/>
            <a:ahLst/>
            <a:cxnLst/>
            <a:rect l="l" t="t" r="r" b="b"/>
            <a:pathLst>
              <a:path w="2949786" h="5633271">
                <a:moveTo>
                  <a:pt x="2949786" y="5633271"/>
                </a:moveTo>
                <a:lnTo>
                  <a:pt x="0" y="5633271"/>
                </a:lnTo>
                <a:lnTo>
                  <a:pt x="0" y="0"/>
                </a:lnTo>
                <a:lnTo>
                  <a:pt x="2949786" y="0"/>
                </a:lnTo>
                <a:lnTo>
                  <a:pt x="2949786" y="563327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4" name="Freeform 4"/>
          <p:cNvSpPr/>
          <p:nvPr/>
        </p:nvSpPr>
        <p:spPr>
          <a:xfrm>
            <a:off x="-90256" y="3146883"/>
            <a:ext cx="1995995" cy="3811796"/>
          </a:xfrm>
          <a:custGeom>
            <a:avLst/>
            <a:gdLst/>
            <a:ahLst/>
            <a:cxnLst/>
            <a:rect l="l" t="t" r="r" b="b"/>
            <a:pathLst>
              <a:path w="2993993" h="5717694">
                <a:moveTo>
                  <a:pt x="0" y="0"/>
                </a:moveTo>
                <a:lnTo>
                  <a:pt x="2993992" y="0"/>
                </a:lnTo>
                <a:lnTo>
                  <a:pt x="2993992" y="5717694"/>
                </a:lnTo>
                <a:lnTo>
                  <a:pt x="0" y="5717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830553" y="1258214"/>
            <a:ext cx="3307351" cy="4006201"/>
          </a:xfrm>
          <a:custGeom>
            <a:avLst/>
            <a:gdLst/>
            <a:ahLst/>
            <a:cxnLst/>
            <a:rect l="l" t="t" r="r" b="b"/>
            <a:pathLst>
              <a:path w="4734124" h="5734455">
                <a:moveTo>
                  <a:pt x="0" y="0"/>
                </a:moveTo>
                <a:lnTo>
                  <a:pt x="4734125" y="0"/>
                </a:lnTo>
                <a:lnTo>
                  <a:pt x="4734125" y="5734455"/>
                </a:lnTo>
                <a:lnTo>
                  <a:pt x="0" y="57344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538998" y="2314020"/>
            <a:ext cx="5225260" cy="2950395"/>
          </a:xfrm>
          <a:custGeom>
            <a:avLst/>
            <a:gdLst/>
            <a:ahLst/>
            <a:cxnLst/>
            <a:rect l="l" t="t" r="r" b="b"/>
            <a:pathLst>
              <a:path w="7837890" h="4425593">
                <a:moveTo>
                  <a:pt x="0" y="0"/>
                </a:moveTo>
                <a:lnTo>
                  <a:pt x="7837890" y="0"/>
                </a:lnTo>
                <a:lnTo>
                  <a:pt x="7837890" y="4425593"/>
                </a:lnTo>
                <a:lnTo>
                  <a:pt x="0" y="44255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114732" y="161758"/>
            <a:ext cx="5962536" cy="956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74"/>
              </a:lnSpc>
              <a:spcBef>
                <a:spcPct val="0"/>
              </a:spcBef>
            </a:pPr>
            <a:r>
              <a:rPr lang="en-US" sz="2767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Аналоги разработанной программы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80533" y="5329840"/>
            <a:ext cx="3157371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3"/>
              </a:lnSpc>
              <a:spcBef>
                <a:spcPct val="0"/>
              </a:spcBef>
            </a:pPr>
            <a:r>
              <a:rPr lang="en-US" sz="190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Веб-симулятора</a:t>
            </a:r>
            <a:r>
              <a:rPr lang="en-US" sz="19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190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процессов</a:t>
            </a:r>
            <a:r>
              <a:rPr lang="en-US" sz="19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190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Монте-Карло</a:t>
            </a:r>
            <a:endParaRPr lang="en-US" sz="19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574083" y="5269117"/>
            <a:ext cx="3155090" cy="66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  <a:spcBef>
                <a:spcPct val="0"/>
              </a:spcBef>
            </a:pPr>
            <a:r>
              <a:rPr lang="en-US" sz="1897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Monte-Carlo-Visualizer-App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7233" y="-108885"/>
            <a:ext cx="12386467" cy="7075769"/>
          </a:xfrm>
          <a:custGeom>
            <a:avLst/>
            <a:gdLst/>
            <a:ahLst/>
            <a:cxnLst/>
            <a:rect l="l" t="t" r="r" b="b"/>
            <a:pathLst>
              <a:path w="18579701" h="10613654">
                <a:moveTo>
                  <a:pt x="0" y="0"/>
                </a:moveTo>
                <a:lnTo>
                  <a:pt x="18579700" y="0"/>
                </a:lnTo>
                <a:lnTo>
                  <a:pt x="18579700" y="10613654"/>
                </a:lnTo>
                <a:lnTo>
                  <a:pt x="0" y="10613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97233" y="0"/>
            <a:ext cx="1235663" cy="2359773"/>
          </a:xfrm>
          <a:custGeom>
            <a:avLst/>
            <a:gdLst/>
            <a:ahLst/>
            <a:cxnLst/>
            <a:rect l="l" t="t" r="r" b="b"/>
            <a:pathLst>
              <a:path w="1853495" h="3539660">
                <a:moveTo>
                  <a:pt x="0" y="3539660"/>
                </a:moveTo>
                <a:lnTo>
                  <a:pt x="1853494" y="3539660"/>
                </a:lnTo>
                <a:lnTo>
                  <a:pt x="1853494" y="0"/>
                </a:lnTo>
                <a:lnTo>
                  <a:pt x="0" y="0"/>
                </a:lnTo>
                <a:lnTo>
                  <a:pt x="0" y="353966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1094618" y="4784704"/>
            <a:ext cx="1142669" cy="2182181"/>
          </a:xfrm>
          <a:custGeom>
            <a:avLst/>
            <a:gdLst/>
            <a:ahLst/>
            <a:cxnLst/>
            <a:rect l="l" t="t" r="r" b="b"/>
            <a:pathLst>
              <a:path w="1714004" h="3273272">
                <a:moveTo>
                  <a:pt x="1714004" y="0"/>
                </a:moveTo>
                <a:lnTo>
                  <a:pt x="0" y="0"/>
                </a:lnTo>
                <a:lnTo>
                  <a:pt x="0" y="3273272"/>
                </a:lnTo>
                <a:lnTo>
                  <a:pt x="1714004" y="3273272"/>
                </a:lnTo>
                <a:lnTo>
                  <a:pt x="171400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>
            <a:off x="105992" y="5199310"/>
            <a:ext cx="944238" cy="115025"/>
          </a:xfrm>
          <a:custGeom>
            <a:avLst/>
            <a:gdLst/>
            <a:ahLst/>
            <a:cxnLst/>
            <a:rect l="l" t="t" r="r" b="b"/>
            <a:pathLst>
              <a:path w="1416357" h="172538">
                <a:moveTo>
                  <a:pt x="0" y="0"/>
                </a:moveTo>
                <a:lnTo>
                  <a:pt x="1416356" y="0"/>
                </a:lnTo>
                <a:lnTo>
                  <a:pt x="1416356" y="172538"/>
                </a:lnTo>
                <a:lnTo>
                  <a:pt x="0" y="1725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>
            <a:off x="11045857" y="1640230"/>
            <a:ext cx="1048401" cy="127714"/>
          </a:xfrm>
          <a:custGeom>
            <a:avLst/>
            <a:gdLst/>
            <a:ahLst/>
            <a:cxnLst/>
            <a:rect l="l" t="t" r="r" b="b"/>
            <a:pathLst>
              <a:path w="1572602" h="191571">
                <a:moveTo>
                  <a:pt x="0" y="0"/>
                </a:moveTo>
                <a:lnTo>
                  <a:pt x="1572602" y="0"/>
                </a:lnTo>
                <a:lnTo>
                  <a:pt x="1572602" y="191572"/>
                </a:lnTo>
                <a:lnTo>
                  <a:pt x="0" y="1915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0591852" y="438757"/>
            <a:ext cx="1074101" cy="494087"/>
          </a:xfrm>
          <a:custGeom>
            <a:avLst/>
            <a:gdLst/>
            <a:ahLst/>
            <a:cxnLst/>
            <a:rect l="l" t="t" r="r" b="b"/>
            <a:pathLst>
              <a:path w="1611152" h="741130">
                <a:moveTo>
                  <a:pt x="1611152" y="0"/>
                </a:moveTo>
                <a:lnTo>
                  <a:pt x="0" y="0"/>
                </a:lnTo>
                <a:lnTo>
                  <a:pt x="0" y="741130"/>
                </a:lnTo>
                <a:lnTo>
                  <a:pt x="1611152" y="741130"/>
                </a:lnTo>
                <a:lnTo>
                  <a:pt x="161115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506200" y="4165270"/>
            <a:ext cx="1109219" cy="281561"/>
          </a:xfrm>
          <a:custGeom>
            <a:avLst/>
            <a:gdLst/>
            <a:ahLst/>
            <a:cxnLst/>
            <a:rect l="l" t="t" r="r" b="b"/>
            <a:pathLst>
              <a:path w="1663828" h="422341">
                <a:moveTo>
                  <a:pt x="0" y="0"/>
                </a:moveTo>
                <a:lnTo>
                  <a:pt x="1663828" y="0"/>
                </a:lnTo>
                <a:lnTo>
                  <a:pt x="1663828" y="422341"/>
                </a:lnTo>
                <a:lnTo>
                  <a:pt x="0" y="4223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510257" y="2673519"/>
            <a:ext cx="1196057" cy="303603"/>
          </a:xfrm>
          <a:custGeom>
            <a:avLst/>
            <a:gdLst/>
            <a:ahLst/>
            <a:cxnLst/>
            <a:rect l="l" t="t" r="r" b="b"/>
            <a:pathLst>
              <a:path w="1794085" h="455405">
                <a:moveTo>
                  <a:pt x="0" y="0"/>
                </a:moveTo>
                <a:lnTo>
                  <a:pt x="1794085" y="0"/>
                </a:lnTo>
                <a:lnTo>
                  <a:pt x="1794085" y="455405"/>
                </a:lnTo>
                <a:lnTo>
                  <a:pt x="0" y="4554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75976" y="898637"/>
            <a:ext cx="9977594" cy="5092603"/>
          </a:xfrm>
          <a:custGeom>
            <a:avLst/>
            <a:gdLst/>
            <a:ahLst/>
            <a:cxnLst/>
            <a:rect l="l" t="t" r="r" b="b"/>
            <a:pathLst>
              <a:path w="14966391" h="7638905">
                <a:moveTo>
                  <a:pt x="0" y="0"/>
                </a:moveTo>
                <a:lnTo>
                  <a:pt x="14966392" y="0"/>
                </a:lnTo>
                <a:lnTo>
                  <a:pt x="14966392" y="7638905"/>
                </a:lnTo>
                <a:lnTo>
                  <a:pt x="0" y="76389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23703" y="6172200"/>
            <a:ext cx="1074101" cy="494087"/>
          </a:xfrm>
          <a:custGeom>
            <a:avLst/>
            <a:gdLst/>
            <a:ahLst/>
            <a:cxnLst/>
            <a:rect l="l" t="t" r="r" b="b"/>
            <a:pathLst>
              <a:path w="1611152" h="741130">
                <a:moveTo>
                  <a:pt x="0" y="0"/>
                </a:moveTo>
                <a:lnTo>
                  <a:pt x="1611152" y="0"/>
                </a:lnTo>
                <a:lnTo>
                  <a:pt x="1611152" y="741130"/>
                </a:lnTo>
                <a:lnTo>
                  <a:pt x="0" y="741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594699" y="1097027"/>
            <a:ext cx="7754007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20"/>
              </a:lnSpc>
            </a:pPr>
            <a:r>
              <a:rPr lang="en-US" sz="4334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Математическая основа</a:t>
            </a:r>
          </a:p>
          <a:p>
            <a:pPr>
              <a:lnSpc>
                <a:spcPts val="4420"/>
              </a:lnSpc>
            </a:pPr>
            <a:endParaRPr lang="en-US" sz="4334" b="1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5557" y="2324017"/>
            <a:ext cx="4531405" cy="3547179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275838" y="1881762"/>
            <a:ext cx="5198881" cy="1912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69"/>
              </a:lnSpc>
            </a:pPr>
            <a:r>
              <a:rPr lang="en-US" sz="1848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Геометрическое броуновское движение</a:t>
            </a:r>
          </a:p>
          <a:p>
            <a:pPr algn="just">
              <a:lnSpc>
                <a:spcPts val="1771"/>
              </a:lnSpc>
            </a:pPr>
            <a:r>
              <a:rPr lang="en-US" sz="158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Динамика цен активов моделируется стохастическим дифференциальным уравнением Ито:</a:t>
            </a:r>
          </a:p>
          <a:p>
            <a:pPr algn="ctr">
              <a:lnSpc>
                <a:spcPts val="1771"/>
              </a:lnSpc>
            </a:pPr>
            <a:r>
              <a:rPr lang="en-US" sz="158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dSt=μStdt+σStdWt</a:t>
            </a:r>
          </a:p>
          <a:p>
            <a:pPr algn="ctr">
              <a:lnSpc>
                <a:spcPts val="1771"/>
              </a:lnSpc>
            </a:pPr>
            <a:endParaRPr lang="en-US" sz="158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1771"/>
              </a:lnSpc>
            </a:pPr>
            <a:r>
              <a:rPr lang="en-US" sz="158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Дискретная аппроксимация (схема Эйлера-Маруямы):</a:t>
            </a:r>
          </a:p>
          <a:p>
            <a:pPr algn="ctr">
              <a:lnSpc>
                <a:spcPts val="1771"/>
              </a:lnSpc>
            </a:pPr>
            <a:r>
              <a:rPr lang="en-US" sz="158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St=St−Δtexp⁡((μ−σ22)Δt+σΔtZt)</a:t>
            </a:r>
          </a:p>
          <a:p>
            <a:pPr algn="just">
              <a:lnSpc>
                <a:spcPts val="2214"/>
              </a:lnSpc>
              <a:spcBef>
                <a:spcPct val="0"/>
              </a:spcBef>
            </a:pPr>
            <a:endParaRPr lang="en-US" sz="158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75838" y="3850514"/>
            <a:ext cx="5198881" cy="1885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02"/>
              </a:lnSpc>
              <a:spcBef>
                <a:spcPct val="0"/>
              </a:spcBef>
            </a:pPr>
            <a:r>
              <a:rPr lang="en-US" sz="186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Моделирование нормального шума</a:t>
            </a:r>
          </a:p>
          <a:p>
            <a:pPr algn="just">
              <a:lnSpc>
                <a:spcPts val="1630"/>
              </a:lnSpc>
              <a:spcBef>
                <a:spcPct val="0"/>
              </a:spcBef>
            </a:pPr>
            <a:r>
              <a:rPr lang="en-US" sz="15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Так как класс System.Random в .NET выдает только равномерные числа, стандартная нормальная случайная величина Z генерируется согласно Центральной предельной теореме:</a:t>
            </a:r>
          </a:p>
          <a:p>
            <a:pPr algn="ctr">
              <a:lnSpc>
                <a:spcPts val="1630"/>
              </a:lnSpc>
              <a:spcBef>
                <a:spcPct val="0"/>
              </a:spcBef>
            </a:pPr>
            <a:r>
              <a:rPr lang="en-US" sz="15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Z=∑i=112Ui−6</a:t>
            </a:r>
          </a:p>
          <a:p>
            <a:pPr algn="ctr">
              <a:lnSpc>
                <a:spcPts val="1630"/>
              </a:lnSpc>
              <a:spcBef>
                <a:spcPct val="0"/>
              </a:spcBef>
            </a:pPr>
            <a:endParaRPr lang="en-US" sz="159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1630"/>
              </a:lnSpc>
              <a:spcBef>
                <a:spcPct val="0"/>
              </a:spcBef>
            </a:pPr>
            <a:r>
              <a:rPr lang="en-US" sz="15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Где Ui – равномерно распределенные на [0,1] независимые случайные числа.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92596" y="2159636"/>
            <a:ext cx="4395727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4"/>
              </a:lnSpc>
              <a:spcBef>
                <a:spcPct val="0"/>
              </a:spcBef>
            </a:pPr>
            <a:r>
              <a:rPr lang="en-US" sz="153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Компоненты шага симуляции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7233" y="-108885"/>
            <a:ext cx="12386467" cy="7075769"/>
          </a:xfrm>
          <a:custGeom>
            <a:avLst/>
            <a:gdLst/>
            <a:ahLst/>
            <a:cxnLst/>
            <a:rect l="l" t="t" r="r" b="b"/>
            <a:pathLst>
              <a:path w="18579701" h="10613654">
                <a:moveTo>
                  <a:pt x="0" y="0"/>
                </a:moveTo>
                <a:lnTo>
                  <a:pt x="18579700" y="0"/>
                </a:lnTo>
                <a:lnTo>
                  <a:pt x="18579700" y="10613654"/>
                </a:lnTo>
                <a:lnTo>
                  <a:pt x="0" y="10613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7029" y="4342400"/>
            <a:ext cx="1525659" cy="2913585"/>
          </a:xfrm>
          <a:custGeom>
            <a:avLst/>
            <a:gdLst/>
            <a:ahLst/>
            <a:cxnLst/>
            <a:rect l="l" t="t" r="r" b="b"/>
            <a:pathLst>
              <a:path w="2288489" h="4370377">
                <a:moveTo>
                  <a:pt x="0" y="0"/>
                </a:moveTo>
                <a:lnTo>
                  <a:pt x="2288488" y="0"/>
                </a:lnTo>
                <a:lnTo>
                  <a:pt x="2288488" y="4370377"/>
                </a:lnTo>
                <a:lnTo>
                  <a:pt x="0" y="43703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0729825" y="-390090"/>
            <a:ext cx="1462175" cy="2792349"/>
          </a:xfrm>
          <a:custGeom>
            <a:avLst/>
            <a:gdLst/>
            <a:ahLst/>
            <a:cxnLst/>
            <a:rect l="l" t="t" r="r" b="b"/>
            <a:pathLst>
              <a:path w="2193263" h="4188523">
                <a:moveTo>
                  <a:pt x="2193263" y="4188522"/>
                </a:moveTo>
                <a:lnTo>
                  <a:pt x="0" y="4188522"/>
                </a:lnTo>
                <a:lnTo>
                  <a:pt x="0" y="0"/>
                </a:lnTo>
                <a:lnTo>
                  <a:pt x="2193263" y="0"/>
                </a:lnTo>
                <a:lnTo>
                  <a:pt x="2193263" y="41885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076917" y="1006084"/>
            <a:ext cx="2153833" cy="2169613"/>
          </a:xfrm>
          <a:custGeom>
            <a:avLst/>
            <a:gdLst/>
            <a:ahLst/>
            <a:cxnLst/>
            <a:rect l="l" t="t" r="r" b="b"/>
            <a:pathLst>
              <a:path w="3230750" h="3254419">
                <a:moveTo>
                  <a:pt x="0" y="0"/>
                </a:moveTo>
                <a:lnTo>
                  <a:pt x="3230750" y="0"/>
                </a:lnTo>
                <a:lnTo>
                  <a:pt x="3230750" y="3254419"/>
                </a:lnTo>
                <a:lnTo>
                  <a:pt x="0" y="32544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115084" y="4002588"/>
            <a:ext cx="2153833" cy="2169613"/>
          </a:xfrm>
          <a:custGeom>
            <a:avLst/>
            <a:gdLst/>
            <a:ahLst/>
            <a:cxnLst/>
            <a:rect l="l" t="t" r="r" b="b"/>
            <a:pathLst>
              <a:path w="3230750" h="3254419">
                <a:moveTo>
                  <a:pt x="0" y="0"/>
                </a:moveTo>
                <a:lnTo>
                  <a:pt x="3230750" y="0"/>
                </a:lnTo>
                <a:lnTo>
                  <a:pt x="3230750" y="3254419"/>
                </a:lnTo>
                <a:lnTo>
                  <a:pt x="0" y="32544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400000">
            <a:off x="-73772" y="3766364"/>
            <a:ext cx="944238" cy="115025"/>
          </a:xfrm>
          <a:custGeom>
            <a:avLst/>
            <a:gdLst/>
            <a:ahLst/>
            <a:cxnLst/>
            <a:rect l="l" t="t" r="r" b="b"/>
            <a:pathLst>
              <a:path w="1416357" h="172538">
                <a:moveTo>
                  <a:pt x="0" y="0"/>
                </a:moveTo>
                <a:lnTo>
                  <a:pt x="1416357" y="0"/>
                </a:lnTo>
                <a:lnTo>
                  <a:pt x="1416357" y="172538"/>
                </a:lnTo>
                <a:lnTo>
                  <a:pt x="0" y="1725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400000">
            <a:off x="11045857" y="3111840"/>
            <a:ext cx="1048401" cy="127714"/>
          </a:xfrm>
          <a:custGeom>
            <a:avLst/>
            <a:gdLst/>
            <a:ahLst/>
            <a:cxnLst/>
            <a:rect l="l" t="t" r="r" b="b"/>
            <a:pathLst>
              <a:path w="1572602" h="191571">
                <a:moveTo>
                  <a:pt x="0" y="0"/>
                </a:moveTo>
                <a:lnTo>
                  <a:pt x="1572602" y="0"/>
                </a:lnTo>
                <a:lnTo>
                  <a:pt x="1572602" y="191571"/>
                </a:lnTo>
                <a:lnTo>
                  <a:pt x="0" y="1915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1511653" y="1282823"/>
            <a:ext cx="8967519" cy="4516369"/>
          </a:xfrm>
          <a:custGeom>
            <a:avLst/>
            <a:gdLst/>
            <a:ahLst/>
            <a:cxnLst/>
            <a:rect l="l" t="t" r="r" b="b"/>
            <a:pathLst>
              <a:path w="13451279" h="6774553">
                <a:moveTo>
                  <a:pt x="13451279" y="0"/>
                </a:moveTo>
                <a:lnTo>
                  <a:pt x="0" y="0"/>
                </a:lnTo>
                <a:lnTo>
                  <a:pt x="0" y="6774553"/>
                </a:lnTo>
                <a:lnTo>
                  <a:pt x="13451279" y="6774553"/>
                </a:lnTo>
                <a:lnTo>
                  <a:pt x="1345127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837869" y="2214616"/>
            <a:ext cx="7895204" cy="822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61" lvl="1" indent="-172730" algn="just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Инициализация траекторий: Программа запускает внешний цикл (N итераций) и вложенный временной цикл (M шагов) для дискретного пошагового вычисления новых цен.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31615" y="1435810"/>
            <a:ext cx="5230533" cy="85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20"/>
              </a:lnSpc>
            </a:pPr>
            <a:r>
              <a:rPr lang="en-US" sz="251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Алгоритм расчета меры VaR</a:t>
            </a:r>
          </a:p>
          <a:p>
            <a:pPr>
              <a:lnSpc>
                <a:spcPts val="3520"/>
              </a:lnSpc>
              <a:spcBef>
                <a:spcPct val="0"/>
              </a:spcBef>
            </a:pPr>
            <a:endParaRPr lang="en-US" sz="2513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837869" y="3137597"/>
            <a:ext cx="7895204" cy="822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61" lvl="1" indent="-172730" algn="just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Фиксация приращений: По окончании моделирования собирается массив абсолютных терминальных изменений стоимости актива по формуле: ΔSi=ST(i)−S0.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37869" y="4062156"/>
            <a:ext cx="7895204" cy="822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61" lvl="1" indent="-172730" algn="just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Сортировка (QuickSort): Полученный числовой массив изменений сортируется по возрастанию. Отрицательные приращения (убытки) смещаются в левую часть массива.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37870" y="5043867"/>
            <a:ext cx="7967423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57" lvl="1" indent="-172729" algn="just">
              <a:lnSpc>
                <a:spcPts val="1632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Извлечение квантиля: На основе доверительной вероятности P рассчитывается индекс квантиля потерь: idx=round(N⋅(1−P)). Итоговое значение VaR инвертируется в положительную величину.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7233" y="-108885"/>
            <a:ext cx="12386467" cy="7075769"/>
          </a:xfrm>
          <a:custGeom>
            <a:avLst/>
            <a:gdLst/>
            <a:ahLst/>
            <a:cxnLst/>
            <a:rect l="l" t="t" r="r" b="b"/>
            <a:pathLst>
              <a:path w="18579701" h="10613654">
                <a:moveTo>
                  <a:pt x="0" y="0"/>
                </a:moveTo>
                <a:lnTo>
                  <a:pt x="18579700" y="0"/>
                </a:lnTo>
                <a:lnTo>
                  <a:pt x="18579700" y="10613654"/>
                </a:lnTo>
                <a:lnTo>
                  <a:pt x="0" y="10613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97233" y="0"/>
            <a:ext cx="1235663" cy="2359773"/>
          </a:xfrm>
          <a:custGeom>
            <a:avLst/>
            <a:gdLst/>
            <a:ahLst/>
            <a:cxnLst/>
            <a:rect l="l" t="t" r="r" b="b"/>
            <a:pathLst>
              <a:path w="1853495" h="3539660">
                <a:moveTo>
                  <a:pt x="0" y="3539660"/>
                </a:moveTo>
                <a:lnTo>
                  <a:pt x="1853494" y="3539660"/>
                </a:lnTo>
                <a:lnTo>
                  <a:pt x="1853494" y="0"/>
                </a:lnTo>
                <a:lnTo>
                  <a:pt x="0" y="0"/>
                </a:lnTo>
                <a:lnTo>
                  <a:pt x="0" y="353966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1094618" y="4784704"/>
            <a:ext cx="1142669" cy="2182181"/>
          </a:xfrm>
          <a:custGeom>
            <a:avLst/>
            <a:gdLst/>
            <a:ahLst/>
            <a:cxnLst/>
            <a:rect l="l" t="t" r="r" b="b"/>
            <a:pathLst>
              <a:path w="1714004" h="3273272">
                <a:moveTo>
                  <a:pt x="1714004" y="0"/>
                </a:moveTo>
                <a:lnTo>
                  <a:pt x="0" y="0"/>
                </a:lnTo>
                <a:lnTo>
                  <a:pt x="0" y="3273272"/>
                </a:lnTo>
                <a:lnTo>
                  <a:pt x="1714004" y="3273272"/>
                </a:lnTo>
                <a:lnTo>
                  <a:pt x="171400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>
            <a:off x="-3733" y="5316350"/>
            <a:ext cx="944238" cy="115025"/>
          </a:xfrm>
          <a:custGeom>
            <a:avLst/>
            <a:gdLst/>
            <a:ahLst/>
            <a:cxnLst/>
            <a:rect l="l" t="t" r="r" b="b"/>
            <a:pathLst>
              <a:path w="1416357" h="172538">
                <a:moveTo>
                  <a:pt x="0" y="0"/>
                </a:moveTo>
                <a:lnTo>
                  <a:pt x="1416356" y="0"/>
                </a:lnTo>
                <a:lnTo>
                  <a:pt x="1416356" y="172538"/>
                </a:lnTo>
                <a:lnTo>
                  <a:pt x="0" y="1725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>
            <a:off x="11045857" y="1640230"/>
            <a:ext cx="1048401" cy="127714"/>
          </a:xfrm>
          <a:custGeom>
            <a:avLst/>
            <a:gdLst/>
            <a:ahLst/>
            <a:cxnLst/>
            <a:rect l="l" t="t" r="r" b="b"/>
            <a:pathLst>
              <a:path w="1572602" h="191571">
                <a:moveTo>
                  <a:pt x="0" y="0"/>
                </a:moveTo>
                <a:lnTo>
                  <a:pt x="1572602" y="0"/>
                </a:lnTo>
                <a:lnTo>
                  <a:pt x="1572602" y="191572"/>
                </a:lnTo>
                <a:lnTo>
                  <a:pt x="0" y="1915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0591852" y="438757"/>
            <a:ext cx="1074101" cy="494087"/>
          </a:xfrm>
          <a:custGeom>
            <a:avLst/>
            <a:gdLst/>
            <a:ahLst/>
            <a:cxnLst/>
            <a:rect l="l" t="t" r="r" b="b"/>
            <a:pathLst>
              <a:path w="1611152" h="741130">
                <a:moveTo>
                  <a:pt x="1611152" y="0"/>
                </a:moveTo>
                <a:lnTo>
                  <a:pt x="0" y="0"/>
                </a:lnTo>
                <a:lnTo>
                  <a:pt x="0" y="741130"/>
                </a:lnTo>
                <a:lnTo>
                  <a:pt x="1611152" y="741130"/>
                </a:lnTo>
                <a:lnTo>
                  <a:pt x="161115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506200" y="4165270"/>
            <a:ext cx="1109219" cy="281561"/>
          </a:xfrm>
          <a:custGeom>
            <a:avLst/>
            <a:gdLst/>
            <a:ahLst/>
            <a:cxnLst/>
            <a:rect l="l" t="t" r="r" b="b"/>
            <a:pathLst>
              <a:path w="1663828" h="422341">
                <a:moveTo>
                  <a:pt x="0" y="0"/>
                </a:moveTo>
                <a:lnTo>
                  <a:pt x="1663828" y="0"/>
                </a:lnTo>
                <a:lnTo>
                  <a:pt x="1663828" y="422341"/>
                </a:lnTo>
                <a:lnTo>
                  <a:pt x="0" y="4223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510257" y="2673519"/>
            <a:ext cx="1196057" cy="303603"/>
          </a:xfrm>
          <a:custGeom>
            <a:avLst/>
            <a:gdLst/>
            <a:ahLst/>
            <a:cxnLst/>
            <a:rect l="l" t="t" r="r" b="b"/>
            <a:pathLst>
              <a:path w="1794085" h="455405">
                <a:moveTo>
                  <a:pt x="0" y="0"/>
                </a:moveTo>
                <a:lnTo>
                  <a:pt x="1794085" y="0"/>
                </a:lnTo>
                <a:lnTo>
                  <a:pt x="1794085" y="455405"/>
                </a:lnTo>
                <a:lnTo>
                  <a:pt x="0" y="4554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88924" y="5965391"/>
            <a:ext cx="1074101" cy="494087"/>
          </a:xfrm>
          <a:custGeom>
            <a:avLst/>
            <a:gdLst/>
            <a:ahLst/>
            <a:cxnLst/>
            <a:rect l="l" t="t" r="r" b="b"/>
            <a:pathLst>
              <a:path w="1611152" h="741130">
                <a:moveTo>
                  <a:pt x="0" y="0"/>
                </a:moveTo>
                <a:lnTo>
                  <a:pt x="1611152" y="0"/>
                </a:lnTo>
                <a:lnTo>
                  <a:pt x="1611152" y="741131"/>
                </a:lnTo>
                <a:lnTo>
                  <a:pt x="0" y="7411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777452" y="1019328"/>
            <a:ext cx="5612137" cy="4601953"/>
          </a:xfrm>
          <a:custGeom>
            <a:avLst/>
            <a:gdLst/>
            <a:ahLst/>
            <a:cxnLst/>
            <a:rect l="l" t="t" r="r" b="b"/>
            <a:pathLst>
              <a:path w="8418206" h="6902929">
                <a:moveTo>
                  <a:pt x="0" y="0"/>
                </a:moveTo>
                <a:lnTo>
                  <a:pt x="8418205" y="0"/>
                </a:lnTo>
                <a:lnTo>
                  <a:pt x="8418205" y="6902928"/>
                </a:lnTo>
                <a:lnTo>
                  <a:pt x="0" y="6902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93621" y="1865440"/>
            <a:ext cx="5269531" cy="2909727"/>
          </a:xfrm>
          <a:custGeom>
            <a:avLst/>
            <a:gdLst/>
            <a:ahLst/>
            <a:cxnLst/>
            <a:rect l="l" t="t" r="r" b="b"/>
            <a:pathLst>
              <a:path w="7904296" h="4364591">
                <a:moveTo>
                  <a:pt x="0" y="0"/>
                </a:moveTo>
                <a:lnTo>
                  <a:pt x="7904296" y="0"/>
                </a:lnTo>
                <a:lnTo>
                  <a:pt x="7904296" y="4364592"/>
                </a:lnTo>
                <a:lnTo>
                  <a:pt x="0" y="43645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272695" y="1159208"/>
            <a:ext cx="5540901" cy="545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55"/>
              </a:lnSpc>
            </a:pPr>
            <a:r>
              <a:rPr lang="en-US" sz="1897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Функциональная модель IDEF0</a:t>
            </a:r>
          </a:p>
          <a:p>
            <a:pPr>
              <a:lnSpc>
                <a:spcPts val="1535"/>
              </a:lnSpc>
              <a:spcBef>
                <a:spcPct val="0"/>
              </a:spcBef>
            </a:pPr>
            <a:endParaRPr lang="en-US" sz="1897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942229" y="1927637"/>
            <a:ext cx="5282584" cy="305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17"/>
              </a:lnSpc>
            </a:pPr>
            <a:r>
              <a:rPr lang="en-US" sz="1441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Декомпозиция процессов (А1)</a:t>
            </a:r>
          </a:p>
          <a:p>
            <a:pPr algn="just">
              <a:lnSpc>
                <a:spcPts val="2017"/>
              </a:lnSpc>
            </a:pPr>
            <a:r>
              <a:rPr lang="en-US" sz="144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Бизнес-логика программного комплекса разделена по стандарту IDEF0 на 4 строго взаимосвязанных подпроцесса:</a:t>
            </a:r>
          </a:p>
          <a:p>
            <a:pPr marL="311154" lvl="1" indent="-155577" algn="just">
              <a:lnSpc>
                <a:spcPts val="2017"/>
              </a:lnSpc>
              <a:buFont typeface="Arial"/>
              <a:buChar char="•"/>
            </a:pPr>
            <a:r>
              <a:rPr lang="en-US" sz="144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Управление входными данными: Фильтрация и синтаксическая валидация параметров симуляции.</a:t>
            </a:r>
          </a:p>
          <a:p>
            <a:pPr marL="311154" lvl="1" indent="-155577" algn="just">
              <a:lnSpc>
                <a:spcPts val="2017"/>
              </a:lnSpc>
              <a:buFont typeface="Arial"/>
              <a:buChar char="•"/>
            </a:pPr>
            <a:r>
              <a:rPr lang="en-US" sz="144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Вычислительное ядро: Асинхронная генерация случайного блуждания и заполнение матриц траекторий.</a:t>
            </a:r>
          </a:p>
          <a:p>
            <a:pPr marL="311154" lvl="1" indent="-155577" algn="just">
              <a:lnSpc>
                <a:spcPts val="2017"/>
              </a:lnSpc>
              <a:buFont typeface="Arial"/>
              <a:buChar char="•"/>
            </a:pPr>
            <a:r>
              <a:rPr lang="en-US" sz="144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Статистическая обработка: Сортировка данных, расчет медианы, среднего и стоимости под риском VaR.</a:t>
            </a:r>
          </a:p>
          <a:p>
            <a:pPr marL="311154" lvl="1" indent="-155577" algn="just">
              <a:lnSpc>
                <a:spcPts val="2017"/>
              </a:lnSpc>
              <a:buFont typeface="Arial"/>
              <a:buChar char="•"/>
            </a:pPr>
            <a:r>
              <a:rPr lang="en-US" sz="144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Визуализация и экспорт: Построение графиков и экспорт отчетов.</a:t>
            </a:r>
          </a:p>
          <a:p>
            <a:pPr algn="just">
              <a:lnSpc>
                <a:spcPts val="2017"/>
              </a:lnSpc>
            </a:pPr>
            <a:endParaRPr lang="en-US" sz="144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7233" y="-108885"/>
            <a:ext cx="12386467" cy="7075769"/>
          </a:xfrm>
          <a:custGeom>
            <a:avLst/>
            <a:gdLst/>
            <a:ahLst/>
            <a:cxnLst/>
            <a:rect l="l" t="t" r="r" b="b"/>
            <a:pathLst>
              <a:path w="18579701" h="10613654">
                <a:moveTo>
                  <a:pt x="0" y="0"/>
                </a:moveTo>
                <a:lnTo>
                  <a:pt x="18579700" y="0"/>
                </a:lnTo>
                <a:lnTo>
                  <a:pt x="18579700" y="10613654"/>
                </a:lnTo>
                <a:lnTo>
                  <a:pt x="0" y="10613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307622" y="4540896"/>
            <a:ext cx="2153833" cy="2169613"/>
          </a:xfrm>
          <a:custGeom>
            <a:avLst/>
            <a:gdLst/>
            <a:ahLst/>
            <a:cxnLst/>
            <a:rect l="l" t="t" r="r" b="b"/>
            <a:pathLst>
              <a:path w="3230750" h="3254419">
                <a:moveTo>
                  <a:pt x="0" y="0"/>
                </a:moveTo>
                <a:lnTo>
                  <a:pt x="3230750" y="0"/>
                </a:lnTo>
                <a:lnTo>
                  <a:pt x="3230750" y="3254419"/>
                </a:lnTo>
                <a:lnTo>
                  <a:pt x="0" y="32544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820240">
            <a:off x="-740358" y="3930852"/>
            <a:ext cx="2439784" cy="297210"/>
          </a:xfrm>
          <a:custGeom>
            <a:avLst/>
            <a:gdLst/>
            <a:ahLst/>
            <a:cxnLst/>
            <a:rect l="l" t="t" r="r" b="b"/>
            <a:pathLst>
              <a:path w="3659676" h="445815">
                <a:moveTo>
                  <a:pt x="0" y="0"/>
                </a:moveTo>
                <a:lnTo>
                  <a:pt x="3659676" y="0"/>
                </a:lnTo>
                <a:lnTo>
                  <a:pt x="3659676" y="445815"/>
                </a:lnTo>
                <a:lnTo>
                  <a:pt x="0" y="4458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28776" y="685800"/>
            <a:ext cx="10734449" cy="5478905"/>
          </a:xfrm>
          <a:custGeom>
            <a:avLst/>
            <a:gdLst/>
            <a:ahLst/>
            <a:cxnLst/>
            <a:rect l="l" t="t" r="r" b="b"/>
            <a:pathLst>
              <a:path w="16101673" h="8218357">
                <a:moveTo>
                  <a:pt x="0" y="0"/>
                </a:moveTo>
                <a:lnTo>
                  <a:pt x="16101672" y="0"/>
                </a:lnTo>
                <a:lnTo>
                  <a:pt x="16101672" y="8218357"/>
                </a:lnTo>
                <a:lnTo>
                  <a:pt x="0" y="82183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566623" y="1632474"/>
            <a:ext cx="7236732" cy="4425146"/>
          </a:xfrm>
          <a:custGeom>
            <a:avLst/>
            <a:gdLst/>
            <a:ahLst/>
            <a:cxnLst/>
            <a:rect l="l" t="t" r="r" b="b"/>
            <a:pathLst>
              <a:path w="10855098" h="6637719">
                <a:moveTo>
                  <a:pt x="0" y="0"/>
                </a:moveTo>
                <a:lnTo>
                  <a:pt x="10855098" y="0"/>
                </a:lnTo>
                <a:lnTo>
                  <a:pt x="10855098" y="6637719"/>
                </a:lnTo>
                <a:lnTo>
                  <a:pt x="0" y="66377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423" b="-423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834783" y="868858"/>
            <a:ext cx="4220541" cy="479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80"/>
              </a:lnSpc>
              <a:spcBef>
                <a:spcPct val="0"/>
              </a:spcBef>
            </a:pPr>
            <a:r>
              <a:rPr lang="en-US" sz="2914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Диаграмма Use-Case</a:t>
            </a:r>
          </a:p>
        </p:txBody>
      </p:sp>
      <p:sp>
        <p:nvSpPr>
          <p:cNvPr id="8" name="Freeform 8"/>
          <p:cNvSpPr/>
          <p:nvPr/>
        </p:nvSpPr>
        <p:spPr>
          <a:xfrm>
            <a:off x="330929" y="267922"/>
            <a:ext cx="1109219" cy="281561"/>
          </a:xfrm>
          <a:custGeom>
            <a:avLst/>
            <a:gdLst/>
            <a:ahLst/>
            <a:cxnLst/>
            <a:rect l="l" t="t" r="r" b="b"/>
            <a:pathLst>
              <a:path w="1663828" h="422341">
                <a:moveTo>
                  <a:pt x="0" y="0"/>
                </a:moveTo>
                <a:lnTo>
                  <a:pt x="1663828" y="0"/>
                </a:lnTo>
                <a:lnTo>
                  <a:pt x="1663828" y="422341"/>
                </a:lnTo>
                <a:lnTo>
                  <a:pt x="0" y="4223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7233" y="-108885"/>
            <a:ext cx="12386467" cy="7075769"/>
          </a:xfrm>
          <a:custGeom>
            <a:avLst/>
            <a:gdLst/>
            <a:ahLst/>
            <a:cxnLst/>
            <a:rect l="l" t="t" r="r" b="b"/>
            <a:pathLst>
              <a:path w="18579701" h="10613654">
                <a:moveTo>
                  <a:pt x="0" y="0"/>
                </a:moveTo>
                <a:lnTo>
                  <a:pt x="18579700" y="0"/>
                </a:lnTo>
                <a:lnTo>
                  <a:pt x="18579700" y="10613654"/>
                </a:lnTo>
                <a:lnTo>
                  <a:pt x="0" y="10613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588398" y="3471298"/>
            <a:ext cx="6285307" cy="3165509"/>
          </a:xfrm>
          <a:custGeom>
            <a:avLst/>
            <a:gdLst/>
            <a:ahLst/>
            <a:cxnLst/>
            <a:rect l="l" t="t" r="r" b="b"/>
            <a:pathLst>
              <a:path w="9427961" h="4748264">
                <a:moveTo>
                  <a:pt x="9427961" y="0"/>
                </a:moveTo>
                <a:lnTo>
                  <a:pt x="0" y="0"/>
                </a:lnTo>
                <a:lnTo>
                  <a:pt x="0" y="4748264"/>
                </a:lnTo>
                <a:lnTo>
                  <a:pt x="9427961" y="4748264"/>
                </a:lnTo>
                <a:lnTo>
                  <a:pt x="942796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77029" y="4342400"/>
            <a:ext cx="1525659" cy="2913585"/>
          </a:xfrm>
          <a:custGeom>
            <a:avLst/>
            <a:gdLst/>
            <a:ahLst/>
            <a:cxnLst/>
            <a:rect l="l" t="t" r="r" b="b"/>
            <a:pathLst>
              <a:path w="2288489" h="4370377">
                <a:moveTo>
                  <a:pt x="0" y="0"/>
                </a:moveTo>
                <a:lnTo>
                  <a:pt x="2288488" y="0"/>
                </a:lnTo>
                <a:lnTo>
                  <a:pt x="2288488" y="4370377"/>
                </a:lnTo>
                <a:lnTo>
                  <a:pt x="0" y="43703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0729825" y="-390090"/>
            <a:ext cx="1462175" cy="2792349"/>
          </a:xfrm>
          <a:custGeom>
            <a:avLst/>
            <a:gdLst/>
            <a:ahLst/>
            <a:cxnLst/>
            <a:rect l="l" t="t" r="r" b="b"/>
            <a:pathLst>
              <a:path w="2193263" h="4188523">
                <a:moveTo>
                  <a:pt x="2193263" y="4188522"/>
                </a:moveTo>
                <a:lnTo>
                  <a:pt x="0" y="4188522"/>
                </a:lnTo>
                <a:lnTo>
                  <a:pt x="0" y="0"/>
                </a:lnTo>
                <a:lnTo>
                  <a:pt x="2193263" y="0"/>
                </a:lnTo>
                <a:lnTo>
                  <a:pt x="2193263" y="41885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076917" y="1006084"/>
            <a:ext cx="2153833" cy="2169613"/>
          </a:xfrm>
          <a:custGeom>
            <a:avLst/>
            <a:gdLst/>
            <a:ahLst/>
            <a:cxnLst/>
            <a:rect l="l" t="t" r="r" b="b"/>
            <a:pathLst>
              <a:path w="3230750" h="3254419">
                <a:moveTo>
                  <a:pt x="0" y="0"/>
                </a:moveTo>
                <a:lnTo>
                  <a:pt x="3230750" y="0"/>
                </a:lnTo>
                <a:lnTo>
                  <a:pt x="3230750" y="3254419"/>
                </a:lnTo>
                <a:lnTo>
                  <a:pt x="0" y="32544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115084" y="4002588"/>
            <a:ext cx="2153833" cy="2169613"/>
          </a:xfrm>
          <a:custGeom>
            <a:avLst/>
            <a:gdLst/>
            <a:ahLst/>
            <a:cxnLst/>
            <a:rect l="l" t="t" r="r" b="b"/>
            <a:pathLst>
              <a:path w="3230750" h="3254419">
                <a:moveTo>
                  <a:pt x="0" y="0"/>
                </a:moveTo>
                <a:lnTo>
                  <a:pt x="3230750" y="0"/>
                </a:lnTo>
                <a:lnTo>
                  <a:pt x="3230750" y="3254419"/>
                </a:lnTo>
                <a:lnTo>
                  <a:pt x="0" y="32544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5400000">
            <a:off x="-73772" y="3766364"/>
            <a:ext cx="944238" cy="115025"/>
          </a:xfrm>
          <a:custGeom>
            <a:avLst/>
            <a:gdLst/>
            <a:ahLst/>
            <a:cxnLst/>
            <a:rect l="l" t="t" r="r" b="b"/>
            <a:pathLst>
              <a:path w="1416357" h="172538">
                <a:moveTo>
                  <a:pt x="0" y="0"/>
                </a:moveTo>
                <a:lnTo>
                  <a:pt x="1416357" y="0"/>
                </a:lnTo>
                <a:lnTo>
                  <a:pt x="1416357" y="172538"/>
                </a:lnTo>
                <a:lnTo>
                  <a:pt x="0" y="1725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5400000">
            <a:off x="11045857" y="3111840"/>
            <a:ext cx="1048401" cy="127714"/>
          </a:xfrm>
          <a:custGeom>
            <a:avLst/>
            <a:gdLst/>
            <a:ahLst/>
            <a:cxnLst/>
            <a:rect l="l" t="t" r="r" b="b"/>
            <a:pathLst>
              <a:path w="1572602" h="191571">
                <a:moveTo>
                  <a:pt x="0" y="0"/>
                </a:moveTo>
                <a:lnTo>
                  <a:pt x="1572602" y="0"/>
                </a:lnTo>
                <a:lnTo>
                  <a:pt x="1572602" y="191571"/>
                </a:lnTo>
                <a:lnTo>
                  <a:pt x="0" y="1915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4383844" y="186248"/>
            <a:ext cx="6285307" cy="3165509"/>
          </a:xfrm>
          <a:custGeom>
            <a:avLst/>
            <a:gdLst/>
            <a:ahLst/>
            <a:cxnLst/>
            <a:rect l="l" t="t" r="r" b="b"/>
            <a:pathLst>
              <a:path w="9427961" h="4748264">
                <a:moveTo>
                  <a:pt x="9427961" y="0"/>
                </a:moveTo>
                <a:lnTo>
                  <a:pt x="0" y="0"/>
                </a:lnTo>
                <a:lnTo>
                  <a:pt x="0" y="4748264"/>
                </a:lnTo>
                <a:lnTo>
                  <a:pt x="9427961" y="4748264"/>
                </a:lnTo>
                <a:lnTo>
                  <a:pt x="942796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491549" y="814200"/>
            <a:ext cx="6069895" cy="279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79"/>
              </a:lnSpc>
            </a:pPr>
            <a:r>
              <a:rPr lang="en-US" sz="1557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Слой интерфейса (WinForms)</a:t>
            </a:r>
          </a:p>
          <a:p>
            <a:pPr marL="336109" lvl="1" indent="-168054" algn="just">
              <a:lnSpc>
                <a:spcPts val="2179"/>
              </a:lnSpc>
              <a:buFont typeface="Arial"/>
              <a:buChar char="•"/>
            </a:pPr>
            <a:r>
              <a:rPr lang="en-US" sz="155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Графическая оболочка спроектирована по концепции Single Page Application (SPA), обеспечивающей беспрепятственный доступ ко всем элементам управления на одном экране.</a:t>
            </a:r>
          </a:p>
          <a:p>
            <a:pPr marL="336109" lvl="1" indent="-168054" algn="just">
              <a:lnSpc>
                <a:spcPts val="2179"/>
              </a:lnSpc>
              <a:buFont typeface="Arial"/>
              <a:buChar char="•"/>
            </a:pPr>
            <a:r>
              <a:rPr lang="en-US" sz="155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Реализует встроенную систему валидации клавиатурного ввода на лету, а также интерактивный вывод двумерных графиков траекторий и гистограмм распределения терминальных цен с автоматическим масштабированием осей.</a:t>
            </a:r>
          </a:p>
          <a:p>
            <a:pPr algn="just">
              <a:lnSpc>
                <a:spcPts val="2179"/>
              </a:lnSpc>
            </a:pPr>
            <a:endParaRPr lang="en-US" sz="155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635299" y="258474"/>
            <a:ext cx="4408711" cy="736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15"/>
              </a:lnSpc>
            </a:pPr>
            <a:r>
              <a:rPr lang="en-US" sz="215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Архитектура решения .NET</a:t>
            </a:r>
          </a:p>
          <a:p>
            <a:pPr>
              <a:lnSpc>
                <a:spcPts val="3015"/>
              </a:lnSpc>
              <a:spcBef>
                <a:spcPct val="0"/>
              </a:spcBef>
            </a:pPr>
            <a:endParaRPr lang="en-US" sz="2153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691236" y="4063622"/>
            <a:ext cx="6086637" cy="2629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7418" lvl="1" indent="-178709" algn="just">
              <a:lnSpc>
                <a:spcPts val="2317"/>
              </a:lnSpc>
              <a:buFont typeface="Arial"/>
              <a:buChar char="•"/>
            </a:pPr>
            <a:r>
              <a:rPr lang="en-US" sz="1655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Класс</a:t>
            </a:r>
            <a:r>
              <a:rPr lang="en-US" sz="16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MonteCarloSimulator </a:t>
            </a:r>
            <a:r>
              <a:rPr lang="en-US" sz="1655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полностью</a:t>
            </a:r>
            <a:r>
              <a:rPr lang="en-US" sz="16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5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инкапсулирует</a:t>
            </a:r>
            <a:r>
              <a:rPr lang="en-US" sz="16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5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математические</a:t>
            </a:r>
            <a:r>
              <a:rPr lang="en-US" sz="16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5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расчеты</a:t>
            </a:r>
            <a:r>
              <a:rPr lang="en-US" sz="16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1655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изолирован</a:t>
            </a:r>
            <a:r>
              <a:rPr lang="en-US" sz="16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5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от</a:t>
            </a:r>
            <a:r>
              <a:rPr lang="en-US" sz="16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5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визуальных</a:t>
            </a:r>
            <a:r>
              <a:rPr lang="en-US" sz="16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5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интерфейсов</a:t>
            </a:r>
            <a:r>
              <a:rPr lang="en-US" sz="16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357418" lvl="1" indent="-178709" algn="just">
              <a:lnSpc>
                <a:spcPts val="2317"/>
              </a:lnSpc>
              <a:buFont typeface="Arial"/>
              <a:buChar char="•"/>
            </a:pPr>
            <a:r>
              <a:rPr lang="en-US" sz="16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Для </a:t>
            </a:r>
            <a:r>
              <a:rPr lang="en-US" sz="1655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ускорения</a:t>
            </a:r>
            <a:r>
              <a:rPr lang="en-US" sz="16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5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математических</a:t>
            </a:r>
            <a:r>
              <a:rPr lang="en-US" sz="16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5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операций</a:t>
            </a:r>
            <a:r>
              <a:rPr lang="en-US" sz="16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5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во</a:t>
            </a:r>
            <a:r>
              <a:rPr lang="en-US" sz="16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5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вложенных</a:t>
            </a:r>
            <a:r>
              <a:rPr lang="en-US" sz="16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5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циклах</a:t>
            </a:r>
            <a:r>
              <a:rPr lang="en-US" sz="16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5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применяются</a:t>
            </a:r>
            <a:r>
              <a:rPr lang="en-US" sz="16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5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ступенчатые</a:t>
            </a:r>
            <a:r>
              <a:rPr lang="en-US" sz="16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5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массивы</a:t>
            </a:r>
            <a:r>
              <a:rPr lang="en-US" sz="16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(Jagged Arrays) </a:t>
            </a:r>
            <a:r>
              <a:rPr lang="en-US" sz="1655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вместо</a:t>
            </a:r>
            <a:r>
              <a:rPr lang="en-US" sz="16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5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прямоугольных</a:t>
            </a:r>
            <a:r>
              <a:rPr lang="en-US" sz="16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5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двумерных</a:t>
            </a:r>
            <a:r>
              <a:rPr lang="en-US" sz="16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5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матриц</a:t>
            </a:r>
            <a:r>
              <a:rPr lang="en-US" sz="16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655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что</a:t>
            </a:r>
            <a:r>
              <a:rPr lang="en-US" sz="16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5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оптимизирует</a:t>
            </a:r>
            <a:r>
              <a:rPr lang="en-US" sz="16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5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обращение</a:t>
            </a:r>
            <a:r>
              <a:rPr lang="en-US" sz="16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в </a:t>
            </a:r>
            <a:r>
              <a:rPr lang="en-US" sz="1655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куче</a:t>
            </a:r>
            <a:r>
              <a:rPr lang="en-US" sz="16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1655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работу</a:t>
            </a:r>
            <a:r>
              <a:rPr lang="en-US" sz="16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5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сборщика</a:t>
            </a:r>
            <a:r>
              <a:rPr lang="en-US" sz="16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5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мусора</a:t>
            </a:r>
            <a:r>
              <a:rPr lang="en-US" sz="16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в </a:t>
            </a:r>
            <a:r>
              <a:rPr lang="en-US" sz="1655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среде</a:t>
            </a:r>
            <a:r>
              <a:rPr lang="en-US" sz="16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CLR .NET.</a:t>
            </a:r>
          </a:p>
          <a:p>
            <a:pPr algn="just">
              <a:lnSpc>
                <a:spcPts val="2317"/>
              </a:lnSpc>
            </a:pPr>
            <a:endParaRPr lang="en-US" sz="165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98568" y="3583404"/>
            <a:ext cx="4550240" cy="3401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36"/>
              </a:lnSpc>
              <a:spcBef>
                <a:spcPct val="0"/>
              </a:spcBef>
            </a:pPr>
            <a:r>
              <a:rPr lang="en-US" sz="2097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Вычислительная</a:t>
            </a:r>
            <a:r>
              <a:rPr lang="en-US" sz="2097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097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бизнес-логика</a:t>
            </a:r>
            <a:endParaRPr lang="en-US" sz="2097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0256" y="-117090"/>
            <a:ext cx="12386467" cy="7075769"/>
          </a:xfrm>
          <a:custGeom>
            <a:avLst/>
            <a:gdLst/>
            <a:ahLst/>
            <a:cxnLst/>
            <a:rect l="l" t="t" r="r" b="b"/>
            <a:pathLst>
              <a:path w="18579701" h="10613654">
                <a:moveTo>
                  <a:pt x="0" y="0"/>
                </a:moveTo>
                <a:lnTo>
                  <a:pt x="18579700" y="0"/>
                </a:lnTo>
                <a:lnTo>
                  <a:pt x="18579700" y="10613654"/>
                </a:lnTo>
                <a:lnTo>
                  <a:pt x="0" y="10613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0449431" y="-345859"/>
            <a:ext cx="1966524" cy="3755514"/>
          </a:xfrm>
          <a:custGeom>
            <a:avLst/>
            <a:gdLst/>
            <a:ahLst/>
            <a:cxnLst/>
            <a:rect l="l" t="t" r="r" b="b"/>
            <a:pathLst>
              <a:path w="2949786" h="5633271">
                <a:moveTo>
                  <a:pt x="2949786" y="5633271"/>
                </a:moveTo>
                <a:lnTo>
                  <a:pt x="0" y="5633271"/>
                </a:lnTo>
                <a:lnTo>
                  <a:pt x="0" y="0"/>
                </a:lnTo>
                <a:lnTo>
                  <a:pt x="2949786" y="0"/>
                </a:lnTo>
                <a:lnTo>
                  <a:pt x="2949786" y="563327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-177339" y="247607"/>
            <a:ext cx="1726279" cy="438193"/>
          </a:xfrm>
          <a:custGeom>
            <a:avLst/>
            <a:gdLst/>
            <a:ahLst/>
            <a:cxnLst/>
            <a:rect l="l" t="t" r="r" b="b"/>
            <a:pathLst>
              <a:path w="2589419" h="657290">
                <a:moveTo>
                  <a:pt x="0" y="0"/>
                </a:moveTo>
                <a:lnTo>
                  <a:pt x="2589418" y="0"/>
                </a:lnTo>
                <a:lnTo>
                  <a:pt x="2589418" y="657290"/>
                </a:lnTo>
                <a:lnTo>
                  <a:pt x="0" y="6572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07296" y="3366335"/>
            <a:ext cx="1995995" cy="3811796"/>
          </a:xfrm>
          <a:custGeom>
            <a:avLst/>
            <a:gdLst/>
            <a:ahLst/>
            <a:cxnLst/>
            <a:rect l="l" t="t" r="r" b="b"/>
            <a:pathLst>
              <a:path w="2993993" h="5717694">
                <a:moveTo>
                  <a:pt x="0" y="0"/>
                </a:moveTo>
                <a:lnTo>
                  <a:pt x="2993992" y="0"/>
                </a:lnTo>
                <a:lnTo>
                  <a:pt x="2993992" y="5717694"/>
                </a:lnTo>
                <a:lnTo>
                  <a:pt x="0" y="5717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812507" y="5984455"/>
            <a:ext cx="788991" cy="362936"/>
          </a:xfrm>
          <a:custGeom>
            <a:avLst/>
            <a:gdLst/>
            <a:ahLst/>
            <a:cxnLst/>
            <a:rect l="l" t="t" r="r" b="b"/>
            <a:pathLst>
              <a:path w="1183486" h="544404">
                <a:moveTo>
                  <a:pt x="0" y="0"/>
                </a:moveTo>
                <a:lnTo>
                  <a:pt x="1183486" y="0"/>
                </a:lnTo>
                <a:lnTo>
                  <a:pt x="1183486" y="544404"/>
                </a:lnTo>
                <a:lnTo>
                  <a:pt x="0" y="5444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9205627" y="520613"/>
            <a:ext cx="791414" cy="364051"/>
          </a:xfrm>
          <a:custGeom>
            <a:avLst/>
            <a:gdLst/>
            <a:ahLst/>
            <a:cxnLst/>
            <a:rect l="l" t="t" r="r" b="b"/>
            <a:pathLst>
              <a:path w="1187121" h="546076">
                <a:moveTo>
                  <a:pt x="1187121" y="546076"/>
                </a:moveTo>
                <a:lnTo>
                  <a:pt x="0" y="546076"/>
                </a:lnTo>
                <a:lnTo>
                  <a:pt x="0" y="0"/>
                </a:lnTo>
                <a:lnTo>
                  <a:pt x="1187121" y="0"/>
                </a:lnTo>
                <a:lnTo>
                  <a:pt x="1187121" y="54607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10643061" y="6128295"/>
            <a:ext cx="1726279" cy="438193"/>
          </a:xfrm>
          <a:custGeom>
            <a:avLst/>
            <a:gdLst/>
            <a:ahLst/>
            <a:cxnLst/>
            <a:rect l="l" t="t" r="r" b="b"/>
            <a:pathLst>
              <a:path w="2589419" h="657290">
                <a:moveTo>
                  <a:pt x="0" y="0"/>
                </a:moveTo>
                <a:lnTo>
                  <a:pt x="2589418" y="0"/>
                </a:lnTo>
                <a:lnTo>
                  <a:pt x="2589418" y="657290"/>
                </a:lnTo>
                <a:lnTo>
                  <a:pt x="0" y="6572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28447" y="1479018"/>
            <a:ext cx="8949059" cy="3883554"/>
          </a:xfrm>
          <a:custGeom>
            <a:avLst/>
            <a:gdLst/>
            <a:ahLst/>
            <a:cxnLst/>
            <a:rect l="l" t="t" r="r" b="b"/>
            <a:pathLst>
              <a:path w="13423589" h="5825331">
                <a:moveTo>
                  <a:pt x="0" y="0"/>
                </a:moveTo>
                <a:lnTo>
                  <a:pt x="13423590" y="0"/>
                </a:lnTo>
                <a:lnTo>
                  <a:pt x="13423590" y="5825332"/>
                </a:lnTo>
                <a:lnTo>
                  <a:pt x="0" y="5825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236284" y="622300"/>
            <a:ext cx="5394127" cy="85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0"/>
              </a:lnSpc>
              <a:spcBef>
                <a:spcPct val="0"/>
              </a:spcBef>
            </a:pPr>
            <a:r>
              <a:rPr lang="en-US" sz="251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Тестирование разработанного ПО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0256" y="-117090"/>
            <a:ext cx="12386467" cy="7075769"/>
          </a:xfrm>
          <a:custGeom>
            <a:avLst/>
            <a:gdLst/>
            <a:ahLst/>
            <a:cxnLst/>
            <a:rect l="l" t="t" r="r" b="b"/>
            <a:pathLst>
              <a:path w="18579701" h="10613654">
                <a:moveTo>
                  <a:pt x="0" y="0"/>
                </a:moveTo>
                <a:lnTo>
                  <a:pt x="18579700" y="0"/>
                </a:lnTo>
                <a:lnTo>
                  <a:pt x="18579700" y="10613654"/>
                </a:lnTo>
                <a:lnTo>
                  <a:pt x="0" y="10613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0317755" y="-111773"/>
            <a:ext cx="1966524" cy="3755514"/>
          </a:xfrm>
          <a:custGeom>
            <a:avLst/>
            <a:gdLst/>
            <a:ahLst/>
            <a:cxnLst/>
            <a:rect l="l" t="t" r="r" b="b"/>
            <a:pathLst>
              <a:path w="2949786" h="5633271">
                <a:moveTo>
                  <a:pt x="2949786" y="5633271"/>
                </a:moveTo>
                <a:lnTo>
                  <a:pt x="0" y="5633271"/>
                </a:lnTo>
                <a:lnTo>
                  <a:pt x="0" y="0"/>
                </a:lnTo>
                <a:lnTo>
                  <a:pt x="2949786" y="0"/>
                </a:lnTo>
                <a:lnTo>
                  <a:pt x="2949786" y="563327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091163" y="1462380"/>
            <a:ext cx="1320015" cy="607207"/>
          </a:xfrm>
          <a:custGeom>
            <a:avLst/>
            <a:gdLst/>
            <a:ahLst/>
            <a:cxnLst/>
            <a:rect l="l" t="t" r="r" b="b"/>
            <a:pathLst>
              <a:path w="1980023" h="910811">
                <a:moveTo>
                  <a:pt x="1980023" y="910811"/>
                </a:moveTo>
                <a:lnTo>
                  <a:pt x="0" y="910811"/>
                </a:lnTo>
                <a:lnTo>
                  <a:pt x="0" y="0"/>
                </a:lnTo>
                <a:lnTo>
                  <a:pt x="1980023" y="0"/>
                </a:lnTo>
                <a:lnTo>
                  <a:pt x="1980023" y="9108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37146" y="2238307"/>
            <a:ext cx="5445447" cy="3518766"/>
          </a:xfrm>
          <a:custGeom>
            <a:avLst/>
            <a:gdLst/>
            <a:ahLst/>
            <a:cxnLst/>
            <a:rect l="l" t="t" r="r" b="b"/>
            <a:pathLst>
              <a:path w="6607783" h="4269850">
                <a:moveTo>
                  <a:pt x="0" y="0"/>
                </a:moveTo>
                <a:lnTo>
                  <a:pt x="6607782" y="0"/>
                </a:lnTo>
                <a:lnTo>
                  <a:pt x="6607782" y="4269850"/>
                </a:lnTo>
                <a:lnTo>
                  <a:pt x="0" y="42698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409994" y="2219632"/>
            <a:ext cx="5177282" cy="3520553"/>
          </a:xfrm>
          <a:custGeom>
            <a:avLst/>
            <a:gdLst/>
            <a:ahLst/>
            <a:cxnLst/>
            <a:rect l="l" t="t" r="r" b="b"/>
            <a:pathLst>
              <a:path w="6279191" h="4269850">
                <a:moveTo>
                  <a:pt x="0" y="0"/>
                </a:moveTo>
                <a:lnTo>
                  <a:pt x="6279192" y="0"/>
                </a:lnTo>
                <a:lnTo>
                  <a:pt x="6279192" y="4269850"/>
                </a:lnTo>
                <a:lnTo>
                  <a:pt x="0" y="42698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1" name="TextBox 11"/>
          <p:cNvSpPr txBox="1"/>
          <p:nvPr/>
        </p:nvSpPr>
        <p:spPr>
          <a:xfrm>
            <a:off x="2940216" y="241364"/>
            <a:ext cx="5884753" cy="17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8"/>
              </a:lnSpc>
            </a:pPr>
            <a:r>
              <a:rPr lang="en-US" sz="331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ДЕМОНСТРАЦИЯ ПРОГРАММЫ</a:t>
            </a:r>
          </a:p>
          <a:p>
            <a:pPr algn="ctr">
              <a:lnSpc>
                <a:spcPts val="4648"/>
              </a:lnSpc>
              <a:spcBef>
                <a:spcPct val="0"/>
              </a:spcBef>
            </a:pPr>
            <a:endParaRPr lang="en-US" sz="3319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79635" y="5807508"/>
            <a:ext cx="3561929" cy="351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5"/>
              </a:lnSpc>
              <a:spcBef>
                <a:spcPct val="0"/>
              </a:spcBef>
            </a:pPr>
            <a:r>
              <a:rPr lang="en-US" sz="2153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Главное</a:t>
            </a:r>
            <a:r>
              <a:rPr lang="en-US" sz="2153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153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окно</a:t>
            </a:r>
            <a:r>
              <a:rPr lang="en-US" sz="2153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153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программы</a:t>
            </a:r>
            <a:endParaRPr lang="en-US" sz="2153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441265" y="5807509"/>
            <a:ext cx="3114741" cy="351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5"/>
              </a:lnSpc>
              <a:spcBef>
                <a:spcPct val="0"/>
              </a:spcBef>
            </a:pPr>
            <a:r>
              <a:rPr lang="en-US" sz="2153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Справка</a:t>
            </a:r>
            <a:r>
              <a:rPr lang="en-US" sz="2153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153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пользователя</a:t>
            </a:r>
            <a:endParaRPr lang="en-US" sz="2153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0256" y="-117090"/>
            <a:ext cx="12386467" cy="7075769"/>
          </a:xfrm>
          <a:custGeom>
            <a:avLst/>
            <a:gdLst/>
            <a:ahLst/>
            <a:cxnLst/>
            <a:rect l="l" t="t" r="r" b="b"/>
            <a:pathLst>
              <a:path w="18579701" h="10613654">
                <a:moveTo>
                  <a:pt x="0" y="0"/>
                </a:moveTo>
                <a:lnTo>
                  <a:pt x="18579700" y="0"/>
                </a:lnTo>
                <a:lnTo>
                  <a:pt x="18579700" y="10613654"/>
                </a:lnTo>
                <a:lnTo>
                  <a:pt x="0" y="10613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0317755" y="-111773"/>
            <a:ext cx="1966524" cy="3755514"/>
          </a:xfrm>
          <a:custGeom>
            <a:avLst/>
            <a:gdLst/>
            <a:ahLst/>
            <a:cxnLst/>
            <a:rect l="l" t="t" r="r" b="b"/>
            <a:pathLst>
              <a:path w="2949786" h="5633271">
                <a:moveTo>
                  <a:pt x="2949786" y="5633271"/>
                </a:moveTo>
                <a:lnTo>
                  <a:pt x="0" y="5633271"/>
                </a:lnTo>
                <a:lnTo>
                  <a:pt x="0" y="0"/>
                </a:lnTo>
                <a:lnTo>
                  <a:pt x="2949786" y="0"/>
                </a:lnTo>
                <a:lnTo>
                  <a:pt x="2949786" y="563327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-448589" y="1681915"/>
            <a:ext cx="1726279" cy="438193"/>
          </a:xfrm>
          <a:custGeom>
            <a:avLst/>
            <a:gdLst/>
            <a:ahLst/>
            <a:cxnLst/>
            <a:rect l="l" t="t" r="r" b="b"/>
            <a:pathLst>
              <a:path w="2589419" h="657290">
                <a:moveTo>
                  <a:pt x="0" y="0"/>
                </a:moveTo>
                <a:lnTo>
                  <a:pt x="2589419" y="0"/>
                </a:lnTo>
                <a:lnTo>
                  <a:pt x="2589419" y="657290"/>
                </a:lnTo>
                <a:lnTo>
                  <a:pt x="0" y="6572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90256" y="3146883"/>
            <a:ext cx="1995995" cy="3811796"/>
          </a:xfrm>
          <a:custGeom>
            <a:avLst/>
            <a:gdLst/>
            <a:ahLst/>
            <a:cxnLst/>
            <a:rect l="l" t="t" r="r" b="b"/>
            <a:pathLst>
              <a:path w="2993993" h="5717694">
                <a:moveTo>
                  <a:pt x="0" y="0"/>
                </a:moveTo>
                <a:lnTo>
                  <a:pt x="2993992" y="0"/>
                </a:lnTo>
                <a:lnTo>
                  <a:pt x="2993992" y="5717694"/>
                </a:lnTo>
                <a:lnTo>
                  <a:pt x="0" y="5717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812508" y="5740185"/>
            <a:ext cx="1320015" cy="607207"/>
          </a:xfrm>
          <a:custGeom>
            <a:avLst/>
            <a:gdLst/>
            <a:ahLst/>
            <a:cxnLst/>
            <a:rect l="l" t="t" r="r" b="b"/>
            <a:pathLst>
              <a:path w="1980023" h="910811">
                <a:moveTo>
                  <a:pt x="0" y="0"/>
                </a:moveTo>
                <a:lnTo>
                  <a:pt x="1980023" y="0"/>
                </a:lnTo>
                <a:lnTo>
                  <a:pt x="1980023" y="910811"/>
                </a:lnTo>
                <a:lnTo>
                  <a:pt x="0" y="9108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8677026" y="520614"/>
            <a:ext cx="1320015" cy="607207"/>
          </a:xfrm>
          <a:custGeom>
            <a:avLst/>
            <a:gdLst/>
            <a:ahLst/>
            <a:cxnLst/>
            <a:rect l="l" t="t" r="r" b="b"/>
            <a:pathLst>
              <a:path w="1980023" h="910811">
                <a:moveTo>
                  <a:pt x="1980023" y="910811"/>
                </a:moveTo>
                <a:lnTo>
                  <a:pt x="0" y="910811"/>
                </a:lnTo>
                <a:lnTo>
                  <a:pt x="0" y="0"/>
                </a:lnTo>
                <a:lnTo>
                  <a:pt x="1980023" y="0"/>
                </a:lnTo>
                <a:lnTo>
                  <a:pt x="1980023" y="9108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10643061" y="5052782"/>
            <a:ext cx="1726279" cy="438193"/>
          </a:xfrm>
          <a:custGeom>
            <a:avLst/>
            <a:gdLst/>
            <a:ahLst/>
            <a:cxnLst/>
            <a:rect l="l" t="t" r="r" b="b"/>
            <a:pathLst>
              <a:path w="2589419" h="657290">
                <a:moveTo>
                  <a:pt x="0" y="0"/>
                </a:moveTo>
                <a:lnTo>
                  <a:pt x="2589418" y="0"/>
                </a:lnTo>
                <a:lnTo>
                  <a:pt x="2589418" y="657290"/>
                </a:lnTo>
                <a:lnTo>
                  <a:pt x="0" y="6572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730257" y="237706"/>
            <a:ext cx="4745440" cy="2202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60"/>
              </a:lnSpc>
            </a:pPr>
            <a:r>
              <a:rPr lang="en-US" sz="4186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ВЫВОДЫ ПО РАБОТЕ</a:t>
            </a:r>
          </a:p>
          <a:p>
            <a:pPr algn="ctr">
              <a:lnSpc>
                <a:spcPts val="5860"/>
              </a:lnSpc>
              <a:spcBef>
                <a:spcPct val="0"/>
              </a:spcBef>
            </a:pPr>
            <a:endParaRPr lang="en-US" sz="4186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093831" y="1715184"/>
            <a:ext cx="8223924" cy="3305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13"/>
              </a:lnSpc>
              <a:spcBef>
                <a:spcPct val="0"/>
              </a:spcBef>
            </a:pPr>
            <a:r>
              <a:rPr lang="en-US" sz="18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Математическая точность: Погрешность моделирования при N=100 000 не превышает 0,02%.</a:t>
            </a:r>
          </a:p>
          <a:p>
            <a:pPr algn="just">
              <a:lnSpc>
                <a:spcPts val="2613"/>
              </a:lnSpc>
              <a:spcBef>
                <a:spcPct val="0"/>
              </a:spcBef>
            </a:pPr>
            <a:r>
              <a:rPr lang="en-US" sz="18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Производительность: использование ступенчатых массивов (Jagged Arrays) позволило достичь времени обработки 100 000 итераций за 1.2 секунды.</a:t>
            </a:r>
          </a:p>
          <a:p>
            <a:pPr algn="just">
              <a:lnSpc>
                <a:spcPts val="2613"/>
              </a:lnSpc>
              <a:spcBef>
                <a:spcPct val="0"/>
              </a:spcBef>
            </a:pPr>
            <a:r>
              <a:rPr lang="en-US" sz="18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Отказоустойчивость: асинхронная архитектура (async/await) гарантирует 100% отзывчивость интерфейса при ресурсоемких расчетах.</a:t>
            </a:r>
          </a:p>
          <a:p>
            <a:pPr algn="just">
              <a:lnSpc>
                <a:spcPts val="2613"/>
              </a:lnSpc>
              <a:spcBef>
                <a:spcPct val="0"/>
              </a:spcBef>
            </a:pPr>
            <a:r>
              <a:rPr lang="en-US" sz="18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Безопасность данных: реализованная многоуровневая валидация (TryParse, логические фильтры) исключает аварийное завершение при некорректном вводе.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0256" y="-117090"/>
            <a:ext cx="12386467" cy="7075769"/>
          </a:xfrm>
          <a:custGeom>
            <a:avLst/>
            <a:gdLst/>
            <a:ahLst/>
            <a:cxnLst/>
            <a:rect l="l" t="t" r="r" b="b"/>
            <a:pathLst>
              <a:path w="18579701" h="10613654">
                <a:moveTo>
                  <a:pt x="0" y="0"/>
                </a:moveTo>
                <a:lnTo>
                  <a:pt x="18579700" y="0"/>
                </a:lnTo>
                <a:lnTo>
                  <a:pt x="18579700" y="10613654"/>
                </a:lnTo>
                <a:lnTo>
                  <a:pt x="0" y="10613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0317755" y="-111773"/>
            <a:ext cx="1966524" cy="3755514"/>
          </a:xfrm>
          <a:custGeom>
            <a:avLst/>
            <a:gdLst/>
            <a:ahLst/>
            <a:cxnLst/>
            <a:rect l="l" t="t" r="r" b="b"/>
            <a:pathLst>
              <a:path w="2949786" h="5633271">
                <a:moveTo>
                  <a:pt x="2949786" y="5633271"/>
                </a:moveTo>
                <a:lnTo>
                  <a:pt x="0" y="5633271"/>
                </a:lnTo>
                <a:lnTo>
                  <a:pt x="0" y="0"/>
                </a:lnTo>
                <a:lnTo>
                  <a:pt x="2949786" y="0"/>
                </a:lnTo>
                <a:lnTo>
                  <a:pt x="2949786" y="563327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-448589" y="1681915"/>
            <a:ext cx="1726279" cy="438193"/>
          </a:xfrm>
          <a:custGeom>
            <a:avLst/>
            <a:gdLst/>
            <a:ahLst/>
            <a:cxnLst/>
            <a:rect l="l" t="t" r="r" b="b"/>
            <a:pathLst>
              <a:path w="2589419" h="657290">
                <a:moveTo>
                  <a:pt x="0" y="0"/>
                </a:moveTo>
                <a:lnTo>
                  <a:pt x="2589419" y="0"/>
                </a:lnTo>
                <a:lnTo>
                  <a:pt x="2589419" y="657290"/>
                </a:lnTo>
                <a:lnTo>
                  <a:pt x="0" y="6572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90256" y="3146883"/>
            <a:ext cx="1995995" cy="3811796"/>
          </a:xfrm>
          <a:custGeom>
            <a:avLst/>
            <a:gdLst/>
            <a:ahLst/>
            <a:cxnLst/>
            <a:rect l="l" t="t" r="r" b="b"/>
            <a:pathLst>
              <a:path w="2993993" h="5717694">
                <a:moveTo>
                  <a:pt x="0" y="0"/>
                </a:moveTo>
                <a:lnTo>
                  <a:pt x="2993992" y="0"/>
                </a:lnTo>
                <a:lnTo>
                  <a:pt x="2993992" y="5717694"/>
                </a:lnTo>
                <a:lnTo>
                  <a:pt x="0" y="5717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812508" y="5740185"/>
            <a:ext cx="1320015" cy="607207"/>
          </a:xfrm>
          <a:custGeom>
            <a:avLst/>
            <a:gdLst/>
            <a:ahLst/>
            <a:cxnLst/>
            <a:rect l="l" t="t" r="r" b="b"/>
            <a:pathLst>
              <a:path w="1980023" h="910811">
                <a:moveTo>
                  <a:pt x="0" y="0"/>
                </a:moveTo>
                <a:lnTo>
                  <a:pt x="1980023" y="0"/>
                </a:lnTo>
                <a:lnTo>
                  <a:pt x="1980023" y="910811"/>
                </a:lnTo>
                <a:lnTo>
                  <a:pt x="0" y="9108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8677026" y="520614"/>
            <a:ext cx="1320015" cy="607207"/>
          </a:xfrm>
          <a:custGeom>
            <a:avLst/>
            <a:gdLst/>
            <a:ahLst/>
            <a:cxnLst/>
            <a:rect l="l" t="t" r="r" b="b"/>
            <a:pathLst>
              <a:path w="1980023" h="910811">
                <a:moveTo>
                  <a:pt x="1980023" y="910811"/>
                </a:moveTo>
                <a:lnTo>
                  <a:pt x="0" y="910811"/>
                </a:lnTo>
                <a:lnTo>
                  <a:pt x="0" y="0"/>
                </a:lnTo>
                <a:lnTo>
                  <a:pt x="1980023" y="0"/>
                </a:lnTo>
                <a:lnTo>
                  <a:pt x="1980023" y="9108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10643061" y="5052782"/>
            <a:ext cx="1726279" cy="438193"/>
          </a:xfrm>
          <a:custGeom>
            <a:avLst/>
            <a:gdLst/>
            <a:ahLst/>
            <a:cxnLst/>
            <a:rect l="l" t="t" r="r" b="b"/>
            <a:pathLst>
              <a:path w="2589419" h="657290">
                <a:moveTo>
                  <a:pt x="0" y="0"/>
                </a:moveTo>
                <a:lnTo>
                  <a:pt x="2589418" y="0"/>
                </a:lnTo>
                <a:lnTo>
                  <a:pt x="2589418" y="657290"/>
                </a:lnTo>
                <a:lnTo>
                  <a:pt x="0" y="6572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137170" y="345590"/>
            <a:ext cx="3931613" cy="572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5"/>
              </a:lnSpc>
              <a:spcBef>
                <a:spcPct val="0"/>
              </a:spcBef>
            </a:pPr>
            <a:r>
              <a:rPr lang="en-US" sz="3468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ЗАКЛЮЧЕНИЕ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84038" y="1424497"/>
            <a:ext cx="8223924" cy="3314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93"/>
              </a:lnSpc>
              <a:spcBef>
                <a:spcPct val="0"/>
              </a:spcBef>
            </a:pPr>
            <a:r>
              <a:rPr lang="en-US" sz="20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 результате курсового проектирования успешно достигнута поставленная цель: разработано высокопроизводительное десктопное приложение для количественной оценки рыночных рисков на платформе .NET.</a:t>
            </a:r>
          </a:p>
          <a:p>
            <a:pPr algn="just">
              <a:lnSpc>
                <a:spcPts val="2893"/>
              </a:lnSpc>
              <a:spcBef>
                <a:spcPct val="0"/>
              </a:spcBef>
            </a:pPr>
            <a:endParaRPr lang="en-US" sz="20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2893"/>
              </a:lnSpc>
              <a:spcBef>
                <a:spcPct val="0"/>
              </a:spcBef>
            </a:pPr>
            <a:r>
              <a:rPr lang="en-US" sz="20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Программа готова к эксплуатации в образовательных целях для демонстрации стохастических процессов и основ риск-менеджмента.</a:t>
            </a:r>
          </a:p>
          <a:p>
            <a:pPr algn="just">
              <a:lnSpc>
                <a:spcPts val="2893"/>
              </a:lnSpc>
              <a:spcBef>
                <a:spcPct val="0"/>
              </a:spcBef>
            </a:pPr>
            <a:endParaRPr lang="en-US" sz="20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B6443-B6A7-C19B-F97E-7555497E0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E86879A-4CB4-1A37-59E2-2F431BF5477A}"/>
              </a:ext>
            </a:extLst>
          </p:cNvPr>
          <p:cNvSpPr/>
          <p:nvPr/>
        </p:nvSpPr>
        <p:spPr>
          <a:xfrm>
            <a:off x="-90256" y="-117090"/>
            <a:ext cx="12386467" cy="7075769"/>
          </a:xfrm>
          <a:custGeom>
            <a:avLst/>
            <a:gdLst/>
            <a:ahLst/>
            <a:cxnLst/>
            <a:rect l="l" t="t" r="r" b="b"/>
            <a:pathLst>
              <a:path w="18579701" h="10613654">
                <a:moveTo>
                  <a:pt x="0" y="0"/>
                </a:moveTo>
                <a:lnTo>
                  <a:pt x="18579700" y="0"/>
                </a:lnTo>
                <a:lnTo>
                  <a:pt x="18579700" y="10613654"/>
                </a:lnTo>
                <a:lnTo>
                  <a:pt x="0" y="10613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F5676CF-71AD-0523-0CF1-ECCA108A671A}"/>
              </a:ext>
            </a:extLst>
          </p:cNvPr>
          <p:cNvSpPr/>
          <p:nvPr/>
        </p:nvSpPr>
        <p:spPr>
          <a:xfrm flipH="1" flipV="1">
            <a:off x="10317755" y="-111773"/>
            <a:ext cx="1966524" cy="3755514"/>
          </a:xfrm>
          <a:custGeom>
            <a:avLst/>
            <a:gdLst/>
            <a:ahLst/>
            <a:cxnLst/>
            <a:rect l="l" t="t" r="r" b="b"/>
            <a:pathLst>
              <a:path w="2949786" h="5633271">
                <a:moveTo>
                  <a:pt x="2949786" y="5633271"/>
                </a:moveTo>
                <a:lnTo>
                  <a:pt x="0" y="5633271"/>
                </a:lnTo>
                <a:lnTo>
                  <a:pt x="0" y="0"/>
                </a:lnTo>
                <a:lnTo>
                  <a:pt x="2949786" y="0"/>
                </a:lnTo>
                <a:lnTo>
                  <a:pt x="2949786" y="563327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A5EBF8F-0577-7CC5-CE27-D0ABC938DFCD}"/>
              </a:ext>
            </a:extLst>
          </p:cNvPr>
          <p:cNvSpPr/>
          <p:nvPr/>
        </p:nvSpPr>
        <p:spPr>
          <a:xfrm rot="-10800000">
            <a:off x="-448589" y="1681915"/>
            <a:ext cx="1726279" cy="438193"/>
          </a:xfrm>
          <a:custGeom>
            <a:avLst/>
            <a:gdLst/>
            <a:ahLst/>
            <a:cxnLst/>
            <a:rect l="l" t="t" r="r" b="b"/>
            <a:pathLst>
              <a:path w="2589419" h="657290">
                <a:moveTo>
                  <a:pt x="0" y="0"/>
                </a:moveTo>
                <a:lnTo>
                  <a:pt x="2589419" y="0"/>
                </a:lnTo>
                <a:lnTo>
                  <a:pt x="2589419" y="657290"/>
                </a:lnTo>
                <a:lnTo>
                  <a:pt x="0" y="6572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A141994-553A-0AD8-25FE-04A7B15C4F6F}"/>
              </a:ext>
            </a:extLst>
          </p:cNvPr>
          <p:cNvSpPr/>
          <p:nvPr/>
        </p:nvSpPr>
        <p:spPr>
          <a:xfrm>
            <a:off x="-90256" y="3146883"/>
            <a:ext cx="1995995" cy="3811796"/>
          </a:xfrm>
          <a:custGeom>
            <a:avLst/>
            <a:gdLst/>
            <a:ahLst/>
            <a:cxnLst/>
            <a:rect l="l" t="t" r="r" b="b"/>
            <a:pathLst>
              <a:path w="2993993" h="5717694">
                <a:moveTo>
                  <a:pt x="0" y="0"/>
                </a:moveTo>
                <a:lnTo>
                  <a:pt x="2993992" y="0"/>
                </a:lnTo>
                <a:lnTo>
                  <a:pt x="2993992" y="5717694"/>
                </a:lnTo>
                <a:lnTo>
                  <a:pt x="0" y="5717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976E8FD-5CD2-F626-D3BF-67978222A5DA}"/>
              </a:ext>
            </a:extLst>
          </p:cNvPr>
          <p:cNvSpPr/>
          <p:nvPr/>
        </p:nvSpPr>
        <p:spPr>
          <a:xfrm>
            <a:off x="1665835" y="3834575"/>
            <a:ext cx="1320015" cy="607207"/>
          </a:xfrm>
          <a:custGeom>
            <a:avLst/>
            <a:gdLst/>
            <a:ahLst/>
            <a:cxnLst/>
            <a:rect l="l" t="t" r="r" b="b"/>
            <a:pathLst>
              <a:path w="1980023" h="910811">
                <a:moveTo>
                  <a:pt x="0" y="0"/>
                </a:moveTo>
                <a:lnTo>
                  <a:pt x="1980023" y="0"/>
                </a:lnTo>
                <a:lnTo>
                  <a:pt x="1980023" y="910811"/>
                </a:lnTo>
                <a:lnTo>
                  <a:pt x="0" y="9108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774963F-F540-A7EA-295D-ACD0AD7FBC44}"/>
              </a:ext>
            </a:extLst>
          </p:cNvPr>
          <p:cNvSpPr/>
          <p:nvPr/>
        </p:nvSpPr>
        <p:spPr>
          <a:xfrm flipH="1" flipV="1">
            <a:off x="8759055" y="875897"/>
            <a:ext cx="1320015" cy="607207"/>
          </a:xfrm>
          <a:custGeom>
            <a:avLst/>
            <a:gdLst/>
            <a:ahLst/>
            <a:cxnLst/>
            <a:rect l="l" t="t" r="r" b="b"/>
            <a:pathLst>
              <a:path w="1980023" h="910811">
                <a:moveTo>
                  <a:pt x="1980023" y="910811"/>
                </a:moveTo>
                <a:lnTo>
                  <a:pt x="0" y="910811"/>
                </a:lnTo>
                <a:lnTo>
                  <a:pt x="0" y="0"/>
                </a:lnTo>
                <a:lnTo>
                  <a:pt x="1980023" y="0"/>
                </a:lnTo>
                <a:lnTo>
                  <a:pt x="1980023" y="9108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EA3D1F2-8FA8-367C-10D5-ECCA1971CB29}"/>
              </a:ext>
            </a:extLst>
          </p:cNvPr>
          <p:cNvSpPr/>
          <p:nvPr/>
        </p:nvSpPr>
        <p:spPr>
          <a:xfrm rot="-10800000">
            <a:off x="10643061" y="5052782"/>
            <a:ext cx="1726279" cy="438193"/>
          </a:xfrm>
          <a:custGeom>
            <a:avLst/>
            <a:gdLst/>
            <a:ahLst/>
            <a:cxnLst/>
            <a:rect l="l" t="t" r="r" b="b"/>
            <a:pathLst>
              <a:path w="2589419" h="657290">
                <a:moveTo>
                  <a:pt x="0" y="0"/>
                </a:moveTo>
                <a:lnTo>
                  <a:pt x="2589418" y="0"/>
                </a:lnTo>
                <a:lnTo>
                  <a:pt x="2589418" y="657290"/>
                </a:lnTo>
                <a:lnTo>
                  <a:pt x="0" y="6572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6FC3EC9-5997-DA4E-A308-EDAB60DD0B80}"/>
              </a:ext>
            </a:extLst>
          </p:cNvPr>
          <p:cNvSpPr txBox="1"/>
          <p:nvPr/>
        </p:nvSpPr>
        <p:spPr>
          <a:xfrm>
            <a:off x="2325842" y="1589224"/>
            <a:ext cx="7554270" cy="2017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9"/>
              </a:lnSpc>
            </a:pPr>
            <a:r>
              <a:rPr lang="en-US" sz="386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РЕАЛИЗАЦИЯ МЕТОДА МОНТЕ–КАРЛО</a:t>
            </a:r>
          </a:p>
          <a:p>
            <a:pPr algn="ctr">
              <a:lnSpc>
                <a:spcPts val="5409"/>
              </a:lnSpc>
              <a:spcBef>
                <a:spcPct val="0"/>
              </a:spcBef>
            </a:pPr>
            <a:endParaRPr lang="en-US" sz="3864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AAB2699-A046-6183-888C-F0208543C966}"/>
              </a:ext>
            </a:extLst>
          </p:cNvPr>
          <p:cNvSpPr txBox="1"/>
          <p:nvPr/>
        </p:nvSpPr>
        <p:spPr>
          <a:xfrm>
            <a:off x="4465322" y="2999356"/>
            <a:ext cx="3292849" cy="1252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90"/>
              </a:lnSpc>
              <a:spcBef>
                <a:spcPct val="0"/>
              </a:spcBef>
            </a:pPr>
            <a:r>
              <a:rPr lang="en-US" sz="7636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2026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17DE4BB-A616-129C-BD6F-7028B7BDF07E}"/>
              </a:ext>
            </a:extLst>
          </p:cNvPr>
          <p:cNvSpPr txBox="1"/>
          <p:nvPr/>
        </p:nvSpPr>
        <p:spPr>
          <a:xfrm>
            <a:off x="2865482" y="5208445"/>
            <a:ext cx="6331842" cy="1575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8"/>
              </a:lnSpc>
            </a:pPr>
            <a:r>
              <a:rPr lang="en-US" sz="182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Подготовил</a:t>
            </a:r>
            <a:r>
              <a:rPr lang="en-US" sz="182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- </a:t>
            </a:r>
            <a:r>
              <a:rPr lang="en-US" sz="182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Филипков</a:t>
            </a:r>
            <a:r>
              <a:rPr lang="en-US" sz="182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Захар </a:t>
            </a:r>
            <a:r>
              <a:rPr lang="en-US" sz="182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Николаевич</a:t>
            </a:r>
            <a:r>
              <a:rPr lang="en-US" sz="182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, </a:t>
            </a:r>
            <a:r>
              <a:rPr lang="en-US" sz="182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учащийся</a:t>
            </a:r>
            <a:r>
              <a:rPr lang="en-US" sz="182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182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группы</a:t>
            </a:r>
            <a:r>
              <a:rPr lang="en-US" sz="182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ru-RU" sz="182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3</a:t>
            </a:r>
            <a:r>
              <a:rPr lang="en-US" sz="182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ПОИС24</a:t>
            </a:r>
          </a:p>
          <a:p>
            <a:pPr algn="ctr">
              <a:lnSpc>
                <a:spcPts val="2548"/>
              </a:lnSpc>
            </a:pPr>
            <a:endParaRPr lang="en-US" sz="182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ctr">
              <a:lnSpc>
                <a:spcPts val="2548"/>
              </a:lnSpc>
            </a:pPr>
            <a:r>
              <a:rPr lang="en-US" sz="182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Руководитель</a:t>
            </a:r>
            <a:r>
              <a:rPr lang="en-US" sz="182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182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проектирования</a:t>
            </a:r>
            <a:r>
              <a:rPr lang="en-US" sz="182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– </a:t>
            </a:r>
            <a:r>
              <a:rPr lang="ru-RU" sz="182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Ковалёв</a:t>
            </a:r>
            <a:r>
              <a:rPr lang="en-US" sz="182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ru-RU" sz="182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И</a:t>
            </a:r>
            <a:r>
              <a:rPr lang="en-US" sz="182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.</a:t>
            </a:r>
            <a:r>
              <a:rPr lang="ru-RU" sz="182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И</a:t>
            </a:r>
            <a:r>
              <a:rPr lang="en-US" sz="182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.</a:t>
            </a:r>
          </a:p>
          <a:p>
            <a:pPr algn="ctr">
              <a:lnSpc>
                <a:spcPts val="2548"/>
              </a:lnSpc>
              <a:spcBef>
                <a:spcPct val="0"/>
              </a:spcBef>
            </a:pPr>
            <a:endParaRPr lang="en-US" sz="182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E424198-9799-E604-442E-ED5A32564E28}"/>
              </a:ext>
            </a:extLst>
          </p:cNvPr>
          <p:cNvSpPr txBox="1"/>
          <p:nvPr/>
        </p:nvSpPr>
        <p:spPr>
          <a:xfrm>
            <a:off x="2603792" y="120987"/>
            <a:ext cx="6855222" cy="37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Оршанский колледж УО «ВГУ им. П.М. Машерова»</a:t>
            </a:r>
          </a:p>
        </p:txBody>
      </p:sp>
    </p:spTree>
    <p:extLst>
      <p:ext uri="{BB962C8B-B14F-4D97-AF65-F5344CB8AC3E}">
        <p14:creationId xmlns:p14="http://schemas.microsoft.com/office/powerpoint/2010/main" val="94919017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812</Words>
  <Application>Microsoft Office PowerPoint</Application>
  <PresentationFormat>Широкоэкранный</PresentationFormat>
  <Paragraphs>80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Arial</vt:lpstr>
      <vt:lpstr>Arial Bold</vt:lpstr>
      <vt:lpstr>Calibri</vt:lpstr>
      <vt:lpstr>Calibri Light</vt:lpstr>
      <vt:lpstr>HK Grotesk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Захар 0</dc:creator>
  <cp:lastModifiedBy>Захар 0</cp:lastModifiedBy>
  <cp:revision>5</cp:revision>
  <dcterms:created xsi:type="dcterms:W3CDTF">2026-07-06T06:53:48Z</dcterms:created>
  <dcterms:modified xsi:type="dcterms:W3CDTF">2026-10-21T09:09:56Z</dcterms:modified>
</cp:coreProperties>
</file>